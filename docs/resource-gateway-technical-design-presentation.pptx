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272d4962a34779" /><Relationship Type="http://schemas.openxmlformats.org/officeDocument/2006/relationships/extended-properties" Target="/docProps/app.xml" Id="R9ee4463c8f014d72" /><Relationship Type="http://schemas.openxmlformats.org/officeDocument/2006/relationships/officeDocument" Target="/ppt/presentation.xml" Id="R2e2d59f6e3a34b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07e5dff7004b35"/>
  </p:sldMasterIdLst>
  <p:notesMasterIdLst>
    <p:notesMasterId xmlns:r="http://schemas.openxmlformats.org/officeDocument/2006/relationships" r:id="R2de652f59a7d4f40"/>
  </p:notesMasterIdLst>
  <p:sldIdLst>
    <p:sldId xmlns:r="http://schemas.openxmlformats.org/officeDocument/2006/relationships" id="256" r:id="R4ab9954493634ba1"/>
    <p:sldId xmlns:r="http://schemas.openxmlformats.org/officeDocument/2006/relationships" id="257" r:id="R7e2d2a2e41474087"/>
    <p:sldId xmlns:r="http://schemas.openxmlformats.org/officeDocument/2006/relationships" id="258" r:id="R85e114a087f34789"/>
    <p:sldId xmlns:r="http://schemas.openxmlformats.org/officeDocument/2006/relationships" id="259" r:id="R49da39b2e9ff4e2a"/>
    <p:sldId xmlns:r="http://schemas.openxmlformats.org/officeDocument/2006/relationships" id="260" r:id="Rf2c047683a394d95"/>
    <p:sldId xmlns:r="http://schemas.openxmlformats.org/officeDocument/2006/relationships" id="261" r:id="R41ead9efe3954008"/>
    <p:sldId xmlns:r="http://schemas.openxmlformats.org/officeDocument/2006/relationships" id="262" r:id="R2590534ef51e4d6d"/>
    <p:sldId xmlns:r="http://schemas.openxmlformats.org/officeDocument/2006/relationships" id="263" r:id="R606aa64af607458f"/>
    <p:sldId xmlns:r="http://schemas.openxmlformats.org/officeDocument/2006/relationships" id="264" r:id="Rdfa66d096cee4f3a"/>
    <p:sldId xmlns:r="http://schemas.openxmlformats.org/officeDocument/2006/relationships" id="265" r:id="Rdb5a5bbae259407c"/>
    <p:sldId xmlns:r="http://schemas.openxmlformats.org/officeDocument/2006/relationships" id="266" r:id="R9174721db4a9459d"/>
    <p:sldId xmlns:r="http://schemas.openxmlformats.org/officeDocument/2006/relationships" id="267" r:id="Readad5e223924fa6"/>
    <p:sldId xmlns:r="http://schemas.openxmlformats.org/officeDocument/2006/relationships" id="268" r:id="R54ff9c1bb76c489b"/>
    <p:sldId xmlns:r="http://schemas.openxmlformats.org/officeDocument/2006/relationships" id="269" r:id="R21104556c6984dd6"/>
    <p:sldId xmlns:r="http://schemas.openxmlformats.org/officeDocument/2006/relationships" id="270" r:id="Rae87efc7dd82441a"/>
    <p:sldId xmlns:r="http://schemas.openxmlformats.org/officeDocument/2006/relationships" id="271" r:id="R765cb1ba73a24cd4"/>
    <p:sldId xmlns:r="http://schemas.openxmlformats.org/officeDocument/2006/relationships" id="272" r:id="Rada64fad22b44257"/>
    <p:sldId xmlns:r="http://schemas.openxmlformats.org/officeDocument/2006/relationships" id="273" r:id="Rae33691504e8480d"/>
    <p:sldId xmlns:r="http://schemas.openxmlformats.org/officeDocument/2006/relationships" id="274" r:id="R84c267485f6c4af7"/>
    <p:sldId xmlns:r="http://schemas.openxmlformats.org/officeDocument/2006/relationships" id="275" r:id="Rcaeb8f7cf9304e76"/>
    <p:sldId xmlns:r="http://schemas.openxmlformats.org/officeDocument/2006/relationships" id="276" r:id="R7326d578c73640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72d8ea3a53427d" /><Relationship Type="http://schemas.openxmlformats.org/officeDocument/2006/relationships/slideMaster" Target="/ppt/slideMasters/slideMaster1.xml" Id="Ra107e5dff7004b35" /><Relationship Type="http://schemas.openxmlformats.org/officeDocument/2006/relationships/notesMaster" Target="/ppt/notesMasters/notesMaster1.xml" Id="R2de652f59a7d4f40" /><Relationship Type="http://schemas.openxmlformats.org/officeDocument/2006/relationships/presProps" Target="/ppt/presProps.xml" Id="R6960976f3bb04cf9" /><Relationship Type="http://schemas.openxmlformats.org/officeDocument/2006/relationships/tableStyles" Target="/ppt/tableStyles.xml" Id="R3e4aef921ed34052" /><Relationship Type="http://schemas.openxmlformats.org/officeDocument/2006/relationships/slide" Target="/ppt/slides/slide1.xml" Id="R4ab9954493634ba1" /><Relationship Type="http://schemas.openxmlformats.org/officeDocument/2006/relationships/slide" Target="/ppt/slides/slide2.xml" Id="R7e2d2a2e41474087" /><Relationship Type="http://schemas.openxmlformats.org/officeDocument/2006/relationships/slide" Target="/ppt/slides/slide3.xml" Id="R85e114a087f34789" /><Relationship Type="http://schemas.openxmlformats.org/officeDocument/2006/relationships/slide" Target="/ppt/slides/slide4.xml" Id="R49da39b2e9ff4e2a" /><Relationship Type="http://schemas.openxmlformats.org/officeDocument/2006/relationships/slide" Target="/ppt/slides/slide5.xml" Id="Rf2c047683a394d95" /><Relationship Type="http://schemas.openxmlformats.org/officeDocument/2006/relationships/slide" Target="/ppt/slides/slide6.xml" Id="R41ead9efe3954008" /><Relationship Type="http://schemas.openxmlformats.org/officeDocument/2006/relationships/slide" Target="/ppt/slides/slide7.xml" Id="R2590534ef51e4d6d" /><Relationship Type="http://schemas.openxmlformats.org/officeDocument/2006/relationships/slide" Target="/ppt/slides/slide8.xml" Id="R606aa64af607458f" /><Relationship Type="http://schemas.openxmlformats.org/officeDocument/2006/relationships/slide" Target="/ppt/slides/slide9.xml" Id="Rdfa66d096cee4f3a" /><Relationship Type="http://schemas.openxmlformats.org/officeDocument/2006/relationships/slide" Target="/ppt/slides/slide10.xml" Id="Rdb5a5bbae259407c" /><Relationship Type="http://schemas.openxmlformats.org/officeDocument/2006/relationships/slide" Target="/ppt/slides/slide11.xml" Id="R9174721db4a9459d" /><Relationship Type="http://schemas.openxmlformats.org/officeDocument/2006/relationships/slide" Target="/ppt/slides/slide12.xml" Id="Readad5e223924fa6" /><Relationship Type="http://schemas.openxmlformats.org/officeDocument/2006/relationships/slide" Target="/ppt/slides/slide13.xml" Id="R54ff9c1bb76c489b" /><Relationship Type="http://schemas.openxmlformats.org/officeDocument/2006/relationships/slide" Target="/ppt/slides/slide14.xml" Id="R21104556c6984dd6" /><Relationship Type="http://schemas.openxmlformats.org/officeDocument/2006/relationships/slide" Target="/ppt/slides/slide15.xml" Id="Rae87efc7dd82441a" /><Relationship Type="http://schemas.openxmlformats.org/officeDocument/2006/relationships/slide" Target="/ppt/slides/slide16.xml" Id="R765cb1ba73a24cd4" /><Relationship Type="http://schemas.openxmlformats.org/officeDocument/2006/relationships/slide" Target="/ppt/slides/slide17.xml" Id="Rada64fad22b44257" /><Relationship Type="http://schemas.openxmlformats.org/officeDocument/2006/relationships/slide" Target="/ppt/slides/slide18.xml" Id="Rae33691504e8480d" /><Relationship Type="http://schemas.openxmlformats.org/officeDocument/2006/relationships/slide" Target="/ppt/slides/slide19.xml" Id="R84c267485f6c4af7" /><Relationship Type="http://schemas.openxmlformats.org/officeDocument/2006/relationships/slide" Target="/ppt/slides/slide20.xml" Id="Rcaeb8f7cf9304e76" /><Relationship Type="http://schemas.openxmlformats.org/officeDocument/2006/relationships/slide" Target="/ppt/slides/slide21.xml" Id="R7326d578c73640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9ae86314814a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25a1a305924c66" /><Relationship Type="http://schemas.openxmlformats.org/officeDocument/2006/relationships/notesMaster" Target="/ppt/notesMasters/notesMaster1.xml" Id="R4a69d1a643a64d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c51a28612a451b" /><Relationship Type="http://schemas.openxmlformats.org/officeDocument/2006/relationships/notesMaster" Target="/ppt/notesMasters/notesMaster1.xml" Id="Rf994e0b310164b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9adcaf83bc4c58" /><Relationship Type="http://schemas.openxmlformats.org/officeDocument/2006/relationships/notesMaster" Target="/ppt/notesMasters/notesMaster1.xml" Id="Rc9824b0c40ff46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bc3a8b1d95458b" /><Relationship Type="http://schemas.openxmlformats.org/officeDocument/2006/relationships/notesMaster" Target="/ppt/notesMasters/notesMaster1.xml" Id="R8027d4c88c0541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14187c418f437b" /><Relationship Type="http://schemas.openxmlformats.org/officeDocument/2006/relationships/notesMaster" Target="/ppt/notesMasters/notesMaster1.xml" Id="Rd29a34b809bc43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540d06c8014a4b" /><Relationship Type="http://schemas.openxmlformats.org/officeDocument/2006/relationships/notesMaster" Target="/ppt/notesMasters/notesMaster1.xml" Id="R34e0b14614eb4d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bd271111df4afb" /><Relationship Type="http://schemas.openxmlformats.org/officeDocument/2006/relationships/notesMaster" Target="/ppt/notesMasters/notesMaster1.xml" Id="R9e8abb86906942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06ce6da7794875" /><Relationship Type="http://schemas.openxmlformats.org/officeDocument/2006/relationships/notesMaster" Target="/ppt/notesMasters/notesMaster1.xml" Id="R18cd50a446f842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f0338b05b54899" /><Relationship Type="http://schemas.openxmlformats.org/officeDocument/2006/relationships/notesMaster" Target="/ppt/notesMasters/notesMaster1.xml" Id="R6403e4004cb241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a74c36c7bf4d06" /><Relationship Type="http://schemas.openxmlformats.org/officeDocument/2006/relationships/notesMaster" Target="/ppt/notesMasters/notesMaster1.xml" Id="Rd88d35dd5aaf4a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42f9acc4bb4b25" /><Relationship Type="http://schemas.openxmlformats.org/officeDocument/2006/relationships/notesMaster" Target="/ppt/notesMasters/notesMaster1.xml" Id="Re1d2aaab708644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18a6a947c544d6" /><Relationship Type="http://schemas.openxmlformats.org/officeDocument/2006/relationships/notesMaster" Target="/ppt/notesMasters/notesMaster1.xml" Id="R171a44710ad148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54ec271e274c28" /><Relationship Type="http://schemas.openxmlformats.org/officeDocument/2006/relationships/notesMaster" Target="/ppt/notesMasters/notesMaster1.xml" Id="Rc912e1a5351f4e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804783d8b94bbf" /><Relationship Type="http://schemas.openxmlformats.org/officeDocument/2006/relationships/notesMaster" Target="/ppt/notesMasters/notesMaster1.xml" Id="Rb82676e4a13f4a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7c88c28c704d03" /><Relationship Type="http://schemas.openxmlformats.org/officeDocument/2006/relationships/notesMaster" Target="/ppt/notesMasters/notesMaster1.xml" Id="Re48e6b5a2a1142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a2eac8daee4f47" /><Relationship Type="http://schemas.openxmlformats.org/officeDocument/2006/relationships/notesMaster" Target="/ppt/notesMasters/notesMaster1.xml" Id="R2ea30ba508d94a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e0e991d0654b87" /><Relationship Type="http://schemas.openxmlformats.org/officeDocument/2006/relationships/notesMaster" Target="/ppt/notesMasters/notesMaster1.xml" Id="Rfde52963b7e24d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c222b0f28549ec" /><Relationship Type="http://schemas.openxmlformats.org/officeDocument/2006/relationships/notesMaster" Target="/ppt/notesMasters/notesMaster1.xml" Id="R684fc548217847e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5df3d7af4ca4d37" /><Relationship Type="http://schemas.openxmlformats.org/officeDocument/2006/relationships/notesMaster" Target="/ppt/notesMasters/notesMaster1.xml" Id="Re30a4e9d112548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3bbb1002544e0a" /><Relationship Type="http://schemas.openxmlformats.org/officeDocument/2006/relationships/notesMaster" Target="/ppt/notesMasters/notesMaster1.xml" Id="R0f18d1012205493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1f6ff0ef9764172" /><Relationship Type="http://schemas.openxmlformats.org/officeDocument/2006/relationships/notesMaster" Target="/ppt/notesMasters/notesMaster1.xml" Id="R4ef38a6005af43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开场先强调：这不是一套连接器目录，也不是单纯的 API Gateway。演讲将解释 Resource Gateway 如何把资源描述、Graph DSL、测试数据控制和证据验证组合成一个可持续演进的工程系统。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resource-gateway-examples/REFERENCE.md</a:t>
            </a:r>
          </a:p>
          <a:p xmlns:a="http://schemas.openxmlformats.org/drawingml/2006/main">
            <a:r>
              <a:t>- resource-gateway-examples/README.md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这一页建立讨论边界：系统复杂度主要来自语义差异和变化风险，而不是 HTTP 客户端实现。后续所有设计都围绕‘变化是否可描述、可隔离、可验证、可追溯’展开。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resource-gateway-examples/REFERENCE.md#Architecture overview</a:t>
            </a:r>
          </a:p>
          <a:p xmlns:a="http://schemas.openxmlformats.org/drawingml/2006/main">
            <a:r>
              <a:t>- docs/resource-gateway-test-kit-design-and-user-guide.md#1-Test-Kit-到底解决什么问题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四个原则不是功能清单，而是架构约束。任何新增能力都应回答：它是否继续收敛供应商差异、保持 DSL 为业务行为真源、保留测试数据控制能力，并产出可独立验证的证据。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resource-gateway-examples/src/main/java/com/leanowtech/bloge/gateway/resource/ResourceDescriptor.java</a:t>
            </a:r>
          </a:p>
          <a:p xmlns:a="http://schemas.openxmlformats.org/drawingml/2006/main">
            <a:r>
              <a:t>- resource-gateway-examples/src/main/java/com/leanowtech/bloge/gateway/operator/HttpResourceOperator.java</a:t>
            </a:r>
          </a:p>
          <a:p xmlns:a="http://schemas.openxmlformats.org/drawingml/2006/main">
            <a:r>
              <a:t>- docs/resource-gateway-test-kit-design-and-user-guide.md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需要主动防止定位漂移。Resource Gateway 可以与 API Gateway、iPaaS 和工作流平台协作，但不应同时进入连接器数量、流量入口和长流程调度的正面竞争。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resource-gateway-examples/REFERENCE.md#Known non-goals</a:t>
            </a:r>
          </a:p>
          <a:p xmlns:a="http://schemas.openxmlformats.org/drawingml/2006/main">
            <a:r>
              <a:t>- resource-gateway-test-kit/README.md</a:t>
            </a:r>
          </a:p>
          <a:p xmlns:a="http://schemas.openxmlformats.org/drawingml/2006/main">
            <a:r>
              <a:t>- docs/resource-gateway-business-value-and-commercial-plan.md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总体架构的关键不是四层堆叠，而是同一资产身份贯穿四个平面。编写平面定义意图，运行平面执行，测试平面控制依赖，证据平面决定是否可信。它们共享 fingerprint，但不共享全部运行状态和信任根。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resource-gateway-examples/REFERENCE.md#Implementation summary</a:t>
            </a:r>
          </a:p>
          <a:p xmlns:a="http://schemas.openxmlformats.org/drawingml/2006/main">
            <a:r>
              <a:t>- docs/resource-gateway-test-kit-design-and-user-guide.md#2-架构和信任边界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 是关系中心，但不是唯一真相。Descriptor 定义资源语义，Contract 定义形状，Scenario 定义业务期望，Fixture 控制运行数据，Evidence 记录可验证事实。引用必须绑定 exact revision 或 fingerprint，避免旧测试静默套用新对象。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resource-gateway-examples/src/main/java/com/leanowtech/bloge/gateway/resource/ResourceDescriptor.java</a:t>
            </a:r>
          </a:p>
          <a:p xmlns:a="http://schemas.openxmlformats.org/drawingml/2006/main">
            <a:r>
              <a:t>- resource-gateway-examples/REFERENCE.md#Implementation summary</a:t>
            </a:r>
          </a:p>
          <a:p xmlns:a="http://schemas.openxmlformats.org/drawingml/2006/main">
            <a:r>
              <a:t>- docs/resource-gateway-test-kit-design-and-user-guide.md#4-核心对象和生命周期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Descriptor 的价值在于把‘如何调用’和‘如何解释成功’一并声明。DatabaseResourceRegistry 在 register/update 时预编译映射和响应表达式，并通过内存热路径加持久化存储实现读取与恢复。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resource-gateway-examples/src/main/java/com/leanowtech/bloge/gateway/resource/ResourceDescriptor.java</a:t>
            </a:r>
          </a:p>
          <a:p xmlns:a="http://schemas.openxmlformats.org/drawingml/2006/main">
            <a:r>
              <a:t>- resource-gateway-examples/src/main/java/com/leanowtech/bloge/gateway/resource/ParameterMapping.java</a:t>
            </a:r>
          </a:p>
          <a:p xmlns:a="http://schemas.openxmlformats.org/drawingml/2006/main">
            <a:r>
              <a:t>- resource-gateway-examples/src/main/java/com/leanowtech/bloge/gateway/resource/ResponseProtocol.java</a:t>
            </a:r>
          </a:p>
          <a:p xmlns:a="http://schemas.openxmlformats.org/drawingml/2006/main">
            <a:r>
              <a:t>- resource-gateway-examples/src/main/java/com/leanowtech/bloge/gateway/resource/DatabaseResourceRegistry.java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逐步解释 HttpResourceOperator.execute：先解析 Descriptor，再求值参数、渲染请求、合并上下文、由 OperatorContext capTimeout，最后执行并根据 ResponseProtocol 判定成功。外部写操作在第六步前进入额外协议。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resource-gateway-examples/src/main/java/com/leanowtech/bloge/gateway/operator/HttpResourceOperator.java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DSL 与 Java 的分工：DSL 负责业务控制流，Operator 负责稳定能力。creditScore Graph 的主备降级并不需要两个专用 Java 流程类；它组合同一个 httpResource 能力，并显式保留 provider provenance。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resource-gateway-examples/src/main/resources/bloge/gateway/credit-score.bloge</a:t>
            </a:r>
          </a:p>
          <a:p xmlns:a="http://schemas.openxmlformats.org/drawingml/2006/main">
            <a:r>
              <a:t>- resource-gateway-examples/src/main/resources/bloge/gateway/user-dashboard.bloge</a:t>
            </a:r>
          </a:p>
          <a:p xmlns:a="http://schemas.openxmlformats.org/drawingml/2006/main">
            <a:r>
              <a:t>- resource-gateway-examples/src/main/resources/bloge/gateway/loan-decision-policy.bloge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 Graph 语义和 Evidence 联系起来。测试不能只断言最终 score；还要能断言 Primary 的 attempt、Secondary 的 must-not-call 或 required use、分支选择和 provider provenance。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resource-gateway-examples/src/main/resources/bloge/gateway/credit-score.bloge</a:t>
            </a:r>
          </a:p>
          <a:p xmlns:a="http://schemas.openxmlformats.org/drawingml/2006/main">
            <a:r>
              <a:t>- resource-gateway-test-kit/README.md#Use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Cache 位于最高优先级，因此命中不会消耗 rate-limit token，也不会触碰 circuit state。Rate Limiter 区分租户配额与全局供应商容量，从而给出不同重试语义。Circuit Breaker 以 provider 维度维护三态机。当前实现均为示例级内存状态。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resource-gateway-examples/src/main/java/com/leanowtech/bloge/gateway/interceptor/ResponseCacheInterceptor.java</a:t>
            </a:r>
          </a:p>
          <a:p xmlns:a="http://schemas.openxmlformats.org/drawingml/2006/main">
            <a:r>
              <a:t>- resource-gateway-examples/src/main/java/com/leanowtech/bloge/gateway/interceptor/TenantRateLimiterInterceptor.java</a:t>
            </a:r>
          </a:p>
          <a:p xmlns:a="http://schemas.openxmlformats.org/drawingml/2006/main">
            <a:r>
              <a:t>- resource-gateway-examples/src/main/java/com/leanowtech/bloge/gateway/interceptor/CircuitBreakerInterceptor.java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外部写入是运行时设计的分水岭。ResourceDescriptor.externalWrite() 根据 HTTP 方法判断边界；没有 conformant ExternalWriteContract 时抛出 NonRetryableException。成功响应还必须带 commit receipt，才能把 attempt 标记为 committed。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resource-gateway-examples/src/main/java/com/leanowtech/bloge/gateway/resource/ResourceDescriptor.java</a:t>
            </a:r>
          </a:p>
          <a:p xmlns:a="http://schemas.openxmlformats.org/drawingml/2006/main">
            <a:r>
              <a:t>- resource-gateway-examples/src/main/java/com/leanowtech/bloge/gateway/operator/HttpResourceOperator.java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契约贯穿 authoring、testing 和 runtime。GatewayGraphService 在启动时要求每个 Graph 都有正式 contract，并在执行前后验证 Schema。视觉编写侧区分 DESIGN 与 EXECUTABLE，避免把‘画得出来’误认为‘能安全执行’。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resource-gateway-examples/src/main/java/com/leanowtech/bloge/gateway/gateway/GatewayGraphService.java</a:t>
            </a:r>
          </a:p>
          <a:p xmlns:a="http://schemas.openxmlformats.org/drawingml/2006/main">
            <a:r>
              <a:t>- resource-gateway-examples/REFERENCE.md#Visual authoring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GatewayGraphContractTestService 使用生产 Graph artifact 和生产拓扑，但通过 fresh run-scoped engine 替换 Descriptor-backed httpResource 调用。隔离引擎不共享应用 interceptor、listener、durable store、cache、quota 或 circuit state，从根源上避免测试污染生产控制面。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resource-gateway-examples/src/main/java/com/leanowtech/bloge/gateway/gateway/GatewayGraphContractTestService.java</a:t>
            </a:r>
          </a:p>
          <a:p xmlns:a="http://schemas.openxmlformats.org/drawingml/2006/main">
            <a:r>
              <a:t>- docs/resource-gateway-test-kit-design-and-user-guide.md#2-架构和信任边界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Fixture 不只是静态 stub。SelectorResolver 和 ExecutionControlCompiler 把位置、次数、行为与安全策略编译成控制计划。规则按 attempt 和 occurrence 寻址，允许验证 retry、fallback、must-not-call 等控制流语义。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docs/resource-gateway-test-kit-design-and-user-guide.md#4.2-FixtureBundle</a:t>
            </a:r>
          </a:p>
          <a:p xmlns:a="http://schemas.openxmlformats.org/drawingml/2006/main">
            <a:r>
              <a:t>- resource-gateway-examples/src/main/java/com/leanowtech/bloge/gateway/testing/planning/ExecutionControlCompiler.java</a:t>
            </a:r>
          </a:p>
          <a:p xmlns:a="http://schemas.openxmlformats.org/drawingml/2006/main">
            <a:r>
              <a:t>- resource-gateway-examples/src/main/java/com/leanowtech/bloge/gateway/testing/runtime/FixtureMatcher.java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这页用于统一术语。PASSED、coverage、promotion、signature verified 和 publish approved 是五个不同判断。系统必须显式返回各自状态和原因，避免一个绿色总分掩盖事实缺口。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docs/resource-gateway-test-kit-design-and-user-guide.md#4.4-Run-和-Evidence</a:t>
            </a:r>
          </a:p>
          <a:p xmlns:a="http://schemas.openxmlformats.org/drawingml/2006/main">
            <a:r>
              <a:t>- resource-gateway-test-kit/README.md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Kit 与服务端实现独立发布，只依赖版本化 wire contract。在线 client 负责获取资产，Verifier 负责独立重算。release-grade 验证要求调用方从独立渠道持有 trust pin，避免同一服务端同时提供证据和信任根。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docs/resource-gateway-test-kit-design-and-user-guide.md#2-架构和信任边界</a:t>
            </a:r>
          </a:p>
          <a:p xmlns:a="http://schemas.openxmlformats.org/drawingml/2006/main">
            <a:r>
              <a:t>- resource-gateway-test-kit/README.md#Security Defaults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DSL 化让业务资产进入 Git、Diff、静态分析、测试和 Review 等成熟软件工程生态。编码智能体可以检索资源合同、生成最小变更并根据结构化 diagnostics 修复；但不能自己定义业务 Oracle，也不能绕过确定性门禁。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docs/resource-gateway-business-value-and-commercial-plan.md</a:t>
            </a:r>
          </a:p>
          <a:p xmlns:a="http://schemas.openxmlformats.org/drawingml/2006/main">
            <a:r>
              <a:t>- resource-gateway-examples/README.md#Notice The Product Loop</a:t>
            </a:r>
          </a:p>
          <a:p xmlns:a="http://schemas.openxmlformats.org/drawingml/2006/main">
            <a:r>
              <a:t>- docs/resource-gateway-authoring-fact-projection-protocol.md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讲解两种独立性：服务端内部通过端口隔离资源、运行、测试和治理；Test Kit 则跨进程、跨版本独立，只消费版本化 Schema 与 HTTP 协议。扩展企业能力应替换端口实现，不应复制 HttpResourceOperator 或把供应商逻辑写入 Graph。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resource-gateway-examples/REFERENCE.md#Implementation summary</a:t>
            </a:r>
          </a:p>
          <a:p xmlns:a="http://schemas.openxmlformats.org/drawingml/2006/main">
            <a:r>
              <a:t>- resource-gateway-test-kit/README.md#Build</a:t>
            </a:r>
          </a:p>
          <a:p xmlns:a="http://schemas.openxmlformats.org/drawingml/2006/main">
            <a:r>
              <a:t>- 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明确区分已实现和目标态。DatabaseResourceRegistry、三个 interceptor 的类注释都标明示例级限制；生产化应根据多实例、一致性、审计和安全要求替换实现。不要把目标态写成当前事实，也不要提前引入与规模不匹配的复杂基础设施。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resource-gateway-examples/src/main/java/com/leanowtech/bloge/gateway/resource/DatabaseResourceRegistry.java</a:t>
            </a:r>
          </a:p>
          <a:p xmlns:a="http://schemas.openxmlformats.org/drawingml/2006/main">
            <a:r>
              <a:t>- resource-gateway-examples/src/main/java/com/leanowtech/bloge/gateway/interceptor/ResponseCacheInterceptor.java</a:t>
            </a:r>
          </a:p>
          <a:p xmlns:a="http://schemas.openxmlformats.org/drawingml/2006/main">
            <a:r>
              <a:t>- resource-gateway-examples/src/main/java/com/leanowtech/bloge/gateway/interceptor/CircuitBreakerInterceptor.java</a:t>
            </a:r>
          </a:p>
          <a:p xmlns:a="http://schemas.openxmlformats.org/drawingml/2006/main">
            <a:r>
              <a:t>- resource-gateway-examples/REFERENCE.md#Known non-goals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收束到工程行动：先选择一条可回滚主路径，建立正式契约和严格 Fixture，再接入 exact revision、Coverage、Evidence 与独立 trust pin。衡量架构成功的标准不是模块数量，而是另一团队能否独立复现并判断业务变化是否正确。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docs/resource-gateway-test-kit-design-and-user-guide.md#13-团队接入清单</a:t>
            </a:r>
          </a:p>
          <a:p xmlns:a="http://schemas.openxmlformats.org/drawingml/2006/main">
            <a:r>
              <a:t>- resource-gateway-examples/README.md#Build And Verify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791d885224e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0fa29a30314351" /><Relationship Type="http://schemas.openxmlformats.org/officeDocument/2006/relationships/slideLayout" Target="/ppt/slideLayouts/slideLayout1.xml" Id="R851636dc216246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1636dc216246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0f911daa8478a" /><Relationship Type="http://schemas.openxmlformats.org/officeDocument/2006/relationships/notesSlide" Target="/ppt/notesSlides/notesSlide1.xml" Id="Rbe14f148b47d4a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af5b26ccc43b0" /><Relationship Type="http://schemas.openxmlformats.org/officeDocument/2006/relationships/notesSlide" Target="/ppt/notesSlides/notesSlide2.xml" Id="Rd5da078e5e5445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8bc1e15884787" /><Relationship Type="http://schemas.openxmlformats.org/officeDocument/2006/relationships/notesSlide" Target="/ppt/notesSlides/notesSlide3.xml" Id="R7d013e97fef246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0746ceb614815" /><Relationship Type="http://schemas.openxmlformats.org/officeDocument/2006/relationships/notesSlide" Target="/ppt/notesSlides/notesSlide4.xml" Id="R5d3cb87fdef149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ae10c6b244fd3" /><Relationship Type="http://schemas.openxmlformats.org/officeDocument/2006/relationships/notesSlide" Target="/ppt/notesSlides/notesSlide5.xml" Id="Rcaed629dccfb46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7e62281554bf5" /><Relationship Type="http://schemas.openxmlformats.org/officeDocument/2006/relationships/notesSlide" Target="/ppt/notesSlides/notesSlide6.xml" Id="R9eb22965c4b046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320e00b0f426c" /><Relationship Type="http://schemas.openxmlformats.org/officeDocument/2006/relationships/notesSlide" Target="/ppt/notesSlides/notesSlide7.xml" Id="R04ce74f8c74b40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1c8b0cce4474c" /><Relationship Type="http://schemas.openxmlformats.org/officeDocument/2006/relationships/notesSlide" Target="/ppt/notesSlides/notesSlide8.xml" Id="Rc3413817701943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758e40d3d49e8" /><Relationship Type="http://schemas.openxmlformats.org/officeDocument/2006/relationships/notesSlide" Target="/ppt/notesSlides/notesSlide9.xml" Id="R6750697b77154c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0ae3c41d846ed" /><Relationship Type="http://schemas.openxmlformats.org/officeDocument/2006/relationships/notesSlide" Target="/ppt/notesSlides/notesSlide10.xml" Id="Rfba436e8589e49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572e1a48542d2" /><Relationship Type="http://schemas.openxmlformats.org/officeDocument/2006/relationships/notesSlide" Target="/ppt/notesSlides/notesSlide11.xml" Id="Rd9061a212b4d46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49a17937b4491" /><Relationship Type="http://schemas.openxmlformats.org/officeDocument/2006/relationships/notesSlide" Target="/ppt/notesSlides/notesSlide12.xml" Id="R0b186c930ed941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3411dfd114f6a" /><Relationship Type="http://schemas.openxmlformats.org/officeDocument/2006/relationships/notesSlide" Target="/ppt/notesSlides/notesSlide13.xml" Id="Rcda89fd944f543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9a9c1492a43cb" /><Relationship Type="http://schemas.openxmlformats.org/officeDocument/2006/relationships/notesSlide" Target="/ppt/notesSlides/notesSlide14.xml" Id="R9f831d2804304b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842eb25c740ee" /><Relationship Type="http://schemas.openxmlformats.org/officeDocument/2006/relationships/notesSlide" Target="/ppt/notesSlides/notesSlide15.xml" Id="R6c2ae314f1074c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d268bc6664c7a" /><Relationship Type="http://schemas.openxmlformats.org/officeDocument/2006/relationships/notesSlide" Target="/ppt/notesSlides/notesSlide16.xml" Id="R51c115abdbc44c4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749d4300f4e45" /><Relationship Type="http://schemas.openxmlformats.org/officeDocument/2006/relationships/notesSlide" Target="/ppt/notesSlides/notesSlide17.xml" Id="R2d1271fd926f484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53dde15824a64" /><Relationship Type="http://schemas.openxmlformats.org/officeDocument/2006/relationships/notesSlide" Target="/ppt/notesSlides/notesSlide18.xml" Id="R88d2428a4a80441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ba7c5bc1f400d" /><Relationship Type="http://schemas.openxmlformats.org/officeDocument/2006/relationships/notesSlide" Target="/ppt/notesSlides/notesSlide19.xml" Id="R59ffebbbc07d4c4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e87da4e6249b1" /><Relationship Type="http://schemas.openxmlformats.org/officeDocument/2006/relationships/notesSlide" Target="/ppt/notesSlides/notesSlide20.xml" Id="Re7d3b94e4a6d4f5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39005d0164680" /><Relationship Type="http://schemas.openxmlformats.org/officeDocument/2006/relationships/notesSlide" Target="/ppt/notesSlides/notesSlide21.xml" Id="R571f98c8fa234c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7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BCD04-7659-40DD-B448-7FD723D5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77D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75083-CD89-43B6-B641-9331BF6D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C6BE"/>
                </a:solidFill>
              </a:defRPr>
            </a:pPr>
            <a:r>
              <a:rPr sz="1125" b="1">
                <a:solidFill>
                  <a:srgbClr val="8EC6BE"/>
                </a:solidFill>
              </a:rPr>
              <a:t>RESOURCE GATEWAY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98FD7-1ACA-4E59-8A61-C9214227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把外部资源、业务编排与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正确性证据设计成同一套工程系统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D259E-9A28-47A0-B9A4-3B8A348D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3D0DC"/>
                </a:solidFill>
              </a:defRPr>
            </a:pPr>
            <a:r>
              <a:rPr sz="1800" b="0">
                <a:solidFill>
                  <a:srgbClr val="C3D0DC"/>
                </a:solidFill>
              </a:rPr>
              <a:t>设计理念与详细技术设计 · 面向架构、平台、测试与业务研发团队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652C7-0729-4EEA-AE41-4946C7D6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877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2A878-A80C-4F1F-A744-C4253B1B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EC6BE"/>
                </a:solidFill>
              </a:defRPr>
            </a:pPr>
            <a:r>
              <a:rPr sz="1200" b="1">
                <a:solidFill>
                  <a:srgbClr val="8EC6BE"/>
                </a:solidFill>
              </a:rPr>
              <a:t>核心主张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C332C-E58B-48C4-9BA3-9012CE9E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连接只是起点；可演进、可测试、可验证的业务资产才是系统边界。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DCBFA-0289-44CC-90A1-2644EDBF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53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01389-DE9D-47C8-A5EE-A7009566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CF"/>
                </a:solidFill>
              </a:defRPr>
            </a:pPr>
            <a:r>
              <a:rPr sz="975" b="0">
                <a:solidFill>
                  <a:srgbClr val="AFC0CF"/>
                </a:solidFill>
              </a:rPr>
              <a:t>Resource Gateway · 技术设计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53E31-8403-43DD-A135-39646DF7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FC0CF"/>
                </a:solidFill>
              </a:defRPr>
            </a:pPr>
            <a:r>
              <a:rPr sz="1050" b="1">
                <a:solidFill>
                  <a:srgbClr val="AFC0C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645890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E562B1-1F55-4205-BC12-177D43CB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01 · 问题定义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0300C-D875-4469-AEA0-D34A7822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真正困难的不是发出 HTTP 请求，而是安全地持续改变业务行为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F3573-C711-47FB-AAD0-316C3117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7E690-5869-42A4-AFD4-2DA1DAA3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5E662-A96A-485F-AECA-86632A3A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5B9A9-902B-49B8-B5FF-0E9A9E28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12D85-05FC-46C4-8FA4-DDB14A23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B7A"/>
                </a:solidFill>
              </a:defRPr>
            </a:pPr>
            <a:r>
              <a:rPr sz="1575" b="0">
                <a:solidFill>
                  <a:srgbClr val="5D6B7A"/>
                </a:solidFill>
              </a:rPr>
              <a:t>传统集成通常把变化拆散在代码、配置、平台规则和人工回归中。局部都能工作，整体却难以证明。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73D2C-ECBE-4FE0-B017-5D74683F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9E"/>
                </a:solidFill>
              </a:defRPr>
            </a:pPr>
            <a:r>
              <a:rPr sz="1875" b="1">
                <a:solidFill>
                  <a:srgbClr val="2F6F9E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63930-DC45-4917-AFE1-2F6691E2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资源差异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E264C-FD1C-47A8-BD05-BAB07A4B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A"/>
                </a:solidFill>
              </a:defRPr>
            </a:pPr>
            <a:r>
              <a:rPr sz="1425" b="0">
                <a:solidFill>
                  <a:srgbClr val="5D6B7A"/>
                </a:solidFill>
              </a:rPr>
              <a:t>URL、认证、参数、成功语义与 payload 结构各不相同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EB46A-9C36-4E81-998F-3F125115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979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CD3A9-FDCB-49D1-88AD-CEEE7C0E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877D"/>
                </a:solidFill>
              </a:defRPr>
            </a:pPr>
            <a:r>
              <a:rPr sz="1875" b="1">
                <a:solidFill>
                  <a:srgbClr val="2B877D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78738-0D07-4F30-B69D-3CE22DF8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146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编排差异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29844-95E1-4310-ADC6-B85523E1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337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A"/>
                </a:solidFill>
              </a:defRPr>
            </a:pPr>
            <a:r>
              <a:rPr sz="1425" b="0">
                <a:solidFill>
                  <a:srgbClr val="5D6B7A"/>
                </a:solidFill>
              </a:rPr>
              <a:t>并发、分支、重试、降级与决策规则属于业务行为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497ABA-6BEF-42AF-8A81-149ABAB0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9975"/>
            <a:ext cx="979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745B7-7D69-42CB-ABDD-113F4F73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67B27"/>
                </a:solidFill>
              </a:defRPr>
            </a:pPr>
            <a:r>
              <a:rPr sz="1875" b="1">
                <a:solidFill>
                  <a:srgbClr val="B67B27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F3339-2F67-489B-82A3-8F915C46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变化风险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5B06F-A792-4049-A4B8-641531A5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A"/>
                </a:solidFill>
              </a:defRPr>
            </a:pPr>
            <a:r>
              <a:rPr sz="1425" b="0">
                <a:solidFill>
                  <a:srgbClr val="5D6B7A"/>
                </a:solidFill>
              </a:rPr>
              <a:t>一次配置变更可能改变调用次数、失败路径和副作用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1987C-65EE-472E-AC10-96115A4A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79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3AFA8-5393-4533-9A19-35CD18DA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64B4B"/>
                </a:solidFill>
              </a:defRPr>
            </a:pPr>
            <a:r>
              <a:rPr sz="1875" b="1">
                <a:solidFill>
                  <a:srgbClr val="B64B4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DDC1C-7D8F-4412-8DF3-DD068CAC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482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验证缺口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F3576-12D3-4BA8-9C4B-B88000A2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672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A"/>
                </a:solidFill>
              </a:defRPr>
            </a:pPr>
            <a:r>
              <a:rPr sz="1425" b="0">
                <a:solidFill>
                  <a:srgbClr val="5D6B7A"/>
                </a:solidFill>
              </a:rPr>
              <a:t>HTTP 200、日志或人工试跑都不能证明完整正确性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A48466-8350-4778-B0EC-41B8BF30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43525"/>
            <a:ext cx="979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3317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C2C431-AE67-44A1-AD80-46E3D683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02 · 设计理念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C6480-11F6-4DCF-BAF2-DEC5A83E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Resource Gateway 用四个设计原则约束系统复杂度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D78BE-268D-49B2-AC73-AD1E188A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F3D1F-8978-4A43-B505-118B85F2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E0345-4202-4C21-BDAD-958E37F9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3BD32-A629-4DC2-B62D-F02C6F01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F908B-1ACC-4F4E-AACF-A1E349DC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3F0EE-1D9F-48EC-8CDC-CD124C43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E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AEBA6-AAEA-4A43-B0E2-B4485653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F9E"/>
                </a:solidFill>
              </a:defRPr>
            </a:pPr>
            <a:r>
              <a:rPr sz="1950" b="1">
                <a:solidFill>
                  <a:srgbClr val="2F6F9E"/>
                </a:solidFill>
              </a:rPr>
              <a:t>资源声明化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B0446-78F2-40D6-A542-A507EA52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442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A"/>
                </a:solidFill>
              </a:defRPr>
            </a:pPr>
            <a:r>
              <a:rPr sz="1350" b="0">
                <a:solidFill>
                  <a:srgbClr val="5D6B7A"/>
                </a:solidFill>
              </a:rPr>
              <a:t>把供应商差异压入 ResourceDescriptor，而不是扩散为专用 Operator。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DDB5F-FDA9-47C6-8A51-2E5CC48F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4953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2CABA-530F-482F-880B-B68F08C6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77D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D5FCF-366F-42B1-8686-25F053DC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B877D"/>
                </a:solidFill>
              </a:defRPr>
            </a:pPr>
            <a:r>
              <a:rPr sz="1950" b="1">
                <a:solidFill>
                  <a:srgbClr val="2B877D"/>
                </a:solidFill>
              </a:rPr>
              <a:t>编排资产化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2EC22-1F29-4D79-A977-72E4DFD7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52700"/>
            <a:ext cx="442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A"/>
                </a:solidFill>
              </a:defRPr>
            </a:pPr>
            <a:r>
              <a:rPr sz="1350" b="0">
                <a:solidFill>
                  <a:srgbClr val="5D6B7A"/>
                </a:solidFill>
              </a:rPr>
              <a:t>把分支、并发、重试、降级和决策表写入可版本化 Graph DSL。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B4784-394A-4299-BB80-39F88576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953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48A3F-3FD9-4AEA-A8D7-21BDCFD2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B27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1F6F19-34FD-4D70-86FD-90D8A1FC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7B27"/>
                </a:solidFill>
              </a:defRPr>
            </a:pPr>
            <a:r>
              <a:rPr sz="1950" b="1">
                <a:solidFill>
                  <a:srgbClr val="B67B27"/>
                </a:solidFill>
              </a:rPr>
              <a:t>数据控制反转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CDE3C-50B1-4514-B60A-EF72E5B1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0"/>
            <a:ext cx="442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A"/>
                </a:solidFill>
              </a:defRPr>
            </a:pPr>
            <a:r>
              <a:rPr sz="1350" b="0">
                <a:solidFill>
                  <a:srgbClr val="5D6B7A"/>
                </a:solidFill>
              </a:rPr>
              <a:t>测试运行控制依赖返回、错误、超时与调用次数，不触碰真实下游。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8BC87-D59F-4E6B-9D12-227F8B4A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4953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3FE777-B589-4917-B128-35A05F61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A8"/>
          </a:solidFill>
          <a:ln xmlns:a="http://schemas.openxmlformats.org/drawingml/2006/main" w="9525">
            <a:solidFill>
              <a:srgbClr val="6657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2C9C85-88F1-43FA-A0DD-93E39DF2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148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657A8"/>
                </a:solidFill>
              </a:defRPr>
            </a:pPr>
            <a:r>
              <a:rPr sz="1950" b="1">
                <a:solidFill>
                  <a:srgbClr val="6657A8"/>
                </a:solidFill>
              </a:rPr>
              <a:t>证据独立验证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0AD76-8424-4E64-9AAB-D0070A70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72000"/>
            <a:ext cx="442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A"/>
                </a:solidFill>
              </a:defRPr>
            </a:pPr>
            <a:r>
              <a:rPr sz="1350" b="0">
                <a:solidFill>
                  <a:srgbClr val="5D6B7A"/>
                </a:solidFill>
              </a:rPr>
              <a:t>Schema、fingerprint、覆盖、签名与信任根均由独立证据验证。</a:t>
            </a:r>
          </a:p>
        </p:txBody>
      </p:sp>
    </p:spTree>
    <p:extLst>
      <p:ext uri="{BB962C8B-B14F-4D97-AF65-F5344CB8AC3E}">
        <p14:creationId xmlns:p14="http://schemas.microsoft.com/office/powerpoint/2010/main" val="15175582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B5A35-7AB8-4EDD-B444-498D8567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03 · 系统边界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68F0B-14A6-43CF-951F-16A6F0FE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定位在‘业务资产正确性层’，与现有网关和集成平台组合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E1AC5-EDFF-4E93-AB8B-90C44A30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6A6AD-C7DA-435C-A44F-EB677B75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B846E-3D0B-4969-A138-21C017FD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4D200-4499-4EF2-8B7D-771C69F6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CAEA9-0158-40E2-B5C2-5884F3A7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B877D"/>
                </a:solidFill>
              </a:defRPr>
            </a:pPr>
            <a:r>
              <a:rPr sz="1950" b="1">
                <a:solidFill>
                  <a:srgbClr val="2B877D"/>
                </a:solidFill>
              </a:rPr>
              <a:t>Resource Gateway 负责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787B2-F0FD-4721-A315-FF4A60B1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资源语义描述与注册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Graph DSL 编排与运行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Schema、Fixture、Scenario 与 Coverage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Evidence、fingerprint 与发布门禁输入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BA6E7-7FD3-4E18-9C41-F419112D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7B27"/>
                </a:solidFill>
              </a:defRPr>
            </a:pPr>
            <a:r>
              <a:rPr sz="1950" b="1">
                <a:solidFill>
                  <a:srgbClr val="B67B27"/>
                </a:solidFill>
              </a:rPr>
              <a:t>不重新发明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0CA58-A41B-48A1-B9FF-C7AC6975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企业 API Gateway 的流量入口能力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iPaaS 的全部连接器资产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企业 OIDC、mTLS、KMS/HSM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组织级审批与最终发布决策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4C99C-1B88-465F-AADB-A2C44037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0" cy="3257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BC8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5924A-3B3C-4DF7-9C70-4074B9CF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62500"/>
            <a:ext cx="81153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618BD-89AB-4FBD-99C0-E746FBBC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10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9E"/>
                </a:solidFill>
              </a:defRPr>
            </a:pPr>
            <a:r>
              <a:rPr sz="1350" b="1">
                <a:solidFill>
                  <a:srgbClr val="2F6F9E"/>
                </a:solidFill>
              </a:rPr>
              <a:t>组合方式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F714E-940D-4E66-9D8B-DA5A25A2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05375"/>
            <a:ext cx="611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OpenAPI / Camel / MCP / 现有 Gateway / iPaaS 提供连接与生态；Resource Gateway 提供业务资产与正确性边界。</a:t>
            </a:r>
          </a:p>
        </p:txBody>
      </p:sp>
    </p:spTree>
    <p:extLst>
      <p:ext uri="{BB962C8B-B14F-4D97-AF65-F5344CB8AC3E}">
        <p14:creationId xmlns:p14="http://schemas.microsoft.com/office/powerpoint/2010/main" val="546364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E295FD-6DDA-452F-9D40-5F7FE09C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04 · 总体架构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5AC67-21F1-4E8D-82B5-A5E6898A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四个平面共享资产身份，但保持执行与信任边界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F4C77-E05B-44EB-9637-42B80053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8624D-AD5C-47EE-81B1-31E5877F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CD5D1-F54D-4B16-A496-822EDDEF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D2ED7-5B8D-4882-8AEB-F35DAC0D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C417B-DFA8-4BF5-AD6E-E430E512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104298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5C74E-6D6E-4BB4-B10C-B2DE9D29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9E"/>
                </a:solidFill>
              </a:defRPr>
            </a:pPr>
            <a:r>
              <a:rPr sz="1800" b="1">
                <a:solidFill>
                  <a:srgbClr val="2F6F9E"/>
                </a:solidFill>
              </a:rPr>
              <a:t>资产编写平面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27D1B-8404-428E-B090-027EA3A9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0975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Descriptor · Operator Contract · Graph · 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40AE0-898F-4AE3-A573-4076C796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04298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E8062-CA3D-4C29-B1CC-F4FF2039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877D"/>
                </a:solidFill>
              </a:defRPr>
            </a:pPr>
            <a:r>
              <a:rPr sz="1800" b="1">
                <a:solidFill>
                  <a:srgbClr val="2B877D"/>
                </a:solidFill>
              </a:rPr>
              <a:t>确定性运行平面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CC934-0EA2-498C-B2B7-7B7777A8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3845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GraphEngine · 通用 Operator · Interceptor · SideEffect Journal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A6E89-09DD-414A-976A-760BC790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4298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398F3-C0BF-45CD-9E7B-B10342F3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67B27"/>
                </a:solidFill>
              </a:defRPr>
            </a:pPr>
            <a:r>
              <a:rPr sz="1800" b="1">
                <a:solidFill>
                  <a:srgbClr val="B67B27"/>
                </a:solidFill>
              </a:rPr>
              <a:t>测试控制平面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073E5-4B85-48D5-8302-EE5798B4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6715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Target · Fixture · Suite · Isolated Engine · Coverage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A7B7C-595E-4AFE-9530-7D44C277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04298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ECF8"/>
          </a:solidFill>
          <a:ln xmlns:a="http://schemas.openxmlformats.org/drawingml/2006/main" w="9525">
            <a:solidFill>
              <a:srgbClr val="6657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5A249-B6D0-43F7-A09D-CC9F8D25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57A8"/>
                </a:solidFill>
              </a:defRPr>
            </a:pPr>
            <a:r>
              <a:rPr sz="1800" b="1">
                <a:solidFill>
                  <a:srgbClr val="6657A8"/>
                </a:solidFill>
              </a:rPr>
              <a:t>证据治理平面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CDA1B-D8FA-4343-A50A-67BDBD0B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89585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Evidence · Fingerprint · Attestation · Trust Pin · Gate</a:t>
            </a:r>
          </a:p>
        </p:txBody>
      </p:sp>
      <p:cxnSp>
        <p:nvCxnSpPr>
          <p:cNvPr id="41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1238" y="23622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9E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91238" y="33909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877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1238" y="44196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7B2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C4ED1F-CE19-4027-A727-BD6A37AD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6769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6B7A"/>
                </a:solidFill>
              </a:defRPr>
            </a:pPr>
            <a:r>
              <a:rPr sz="1200" b="1">
                <a:solidFill>
                  <a:srgbClr val="5D6B7A"/>
                </a:solidFill>
              </a:rPr>
              <a:t>共享键：kind + id + revision / fingerprint</a:t>
            </a:r>
          </a:p>
        </p:txBody>
      </p:sp>
    </p:spTree>
    <p:extLst>
      <p:ext uri="{BB962C8B-B14F-4D97-AF65-F5344CB8AC3E}">
        <p14:creationId xmlns:p14="http://schemas.microsoft.com/office/powerpoint/2010/main" val="17544745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44EAAE-4A31-4C74-B360-FB9641AA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05 · 领域模型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78635-8449-494A-BF4D-865CF720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核心对象不是页面模型，而是一组可组合、可寻址的业务资产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3A355-4C3C-4DD4-BF4F-18DD362B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1C92F-0D36-465E-BC55-DB0138C2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3E299-06B6-4337-9141-D4FE4ADB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E15AC-B968-49D2-90AE-1C18188C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DB849-B18D-438D-A789-473C7A99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667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BB20F-5A46-48B8-B488-85CDB15D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5715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77D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51255-8EFF-4337-8D92-80978BB4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B013A-C9A4-4509-A159-22EC2BF8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业务控制流</a:t>
            </a:r>
          </a:p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依赖、分支、重试、降级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6B191-6A57-42CC-8F4B-6B40FE52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2571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F55E9-E773-4CC7-B26D-6A408342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715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9E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7FCF4-2AB9-4294-A9CF-CDBFED25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ResourceDescriptor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9CE47-6260-452B-8E10-50EA035E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供应商调用语义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3BD17-C7E4-4539-8B76-984D7198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571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4941F-7E16-4150-9800-9EAEB2DD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5715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9E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E78E4-7086-4C9F-80C8-2004313D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Contract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3CB38-2550-4F2C-9267-870D1F44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输入、输出与端口 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068A5-136A-4B2A-8EAB-86B35B88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76400"/>
            <a:ext cx="2571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F4690-B625-4196-9218-49BDB92C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76400"/>
            <a:ext cx="5715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7B27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7EBF96-E920-4025-8324-984119AB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097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Operator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521EA-0617-4642-9542-93A2CC07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145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稳定执行能力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DF6F51-2FC6-434B-BA27-D5BB34C3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71950"/>
            <a:ext cx="2571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A44533-35A4-4501-B573-B98427B8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71950"/>
            <a:ext cx="5715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7B27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A6CD2B-DC0D-4714-B057-1EA4852F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053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C6824-4F70-483A-B8E4-0F3B322A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1010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业务 Oracle 与案例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B23ACE-EFA8-4852-9F87-12BCBFDC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62500"/>
            <a:ext cx="2095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ECF8"/>
          </a:solidFill>
          <a:ln xmlns:a="http://schemas.openxmlformats.org/drawingml/2006/main" w="9525">
            <a:solidFill>
              <a:srgbClr val="6657A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9C6C7B-B91C-418D-B33F-3D8B3EC2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62500"/>
            <a:ext cx="5715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A8"/>
          </a:solidFill>
          <a:ln xmlns:a="http://schemas.openxmlformats.org/drawingml/2006/main" w="9525">
            <a:solidFill>
              <a:srgbClr val="6657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BBBB76-5E9A-47E6-A7FC-CB7FE48A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958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Fixture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414A56-A9D4-4F7A-A851-6AED2025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00650"/>
            <a:ext cx="1771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运行依赖控制规则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10E241-FC2A-4E11-B8DF-36313E44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62500"/>
            <a:ext cx="2095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F3ED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5B5DBB-E27F-4D6D-A18E-E74625AD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62500"/>
            <a:ext cx="5715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B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FFDC34-5D50-40A4-9153-4630B2BB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958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D9A55B-81C5-4375-97AE-C0CA7918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00650"/>
            <a:ext cx="1771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结果、覆盖与可信证明</a:t>
            </a:r>
          </a:p>
        </p:txBody>
      </p:sp>
      <p:cxnSp>
        <p:nvCxnSpPr>
          <p:cNvPr id="76" name=""/>
          <p:cNvCxnSpPr>
            <a:stCxn xmlns:a="http://schemas.openxmlformats.org/drawingml/2006/main" id="1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09950" y="2200275"/>
            <a:ext cx="1352550" cy="990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6F9E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7" name=""/>
          <p:cNvCxnSpPr>
            <a:stCxn xmlns:a="http://schemas.openxmlformats.org/drawingml/2006/main" id="1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409950" y="3190875"/>
            <a:ext cx="1352550" cy="1504950"/>
          </a:xfrm>
          <a:prstGeom xmlns:a="http://schemas.openxmlformats.org/drawingml/2006/main" prst="bentConnector3">
            <a:avLst>
              <a:gd name="adj1" fmla="val 16901"/>
            </a:avLst>
          </a:prstGeom>
          <a:ln xmlns:a="http://schemas.openxmlformats.org/drawingml/2006/main" w="19050">
            <a:solidFill>
              <a:srgbClr val="2F6F9E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8" name=""/>
          <p:cNvCxnSpPr>
            <a:stCxn xmlns:a="http://schemas.openxmlformats.org/drawingml/2006/main" id="1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429500" y="2200275"/>
            <a:ext cx="1285875" cy="990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67B2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9" name=""/>
          <p:cNvCxnSpPr>
            <a:stCxn xmlns:a="http://schemas.openxmlformats.org/drawingml/2006/main" id="23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7429500" y="3190875"/>
            <a:ext cx="1285875" cy="1504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67B2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80" name=""/>
          <p:cNvCxnSpPr>
            <a:stCxn xmlns:a="http://schemas.openxmlformats.org/drawingml/2006/main" id="27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5029200" y="3810000"/>
            <a:ext cx="106680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57A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81" name=""/>
          <p:cNvCxnSpPr>
            <a:stCxn xmlns:a="http://schemas.openxmlformats.org/drawingml/2006/main" id="7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6096000" y="3810000"/>
            <a:ext cx="131445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7D5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927115-F5D3-4C24-B9A5-EDAAC7E5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10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D6B7A"/>
                </a:solidFill>
              </a:defRPr>
            </a:pPr>
            <a:r>
              <a:rPr sz="1350" b="1">
                <a:solidFill>
                  <a:srgbClr val="5D6B7A"/>
                </a:solidFill>
              </a:rPr>
              <a:t>版本化与 fingerprint 使对象之间的引用可冻结、可复现、可拒绝漂移</a:t>
            </a:r>
          </a:p>
        </p:txBody>
      </p:sp>
    </p:spTree>
    <p:extLst>
      <p:ext uri="{BB962C8B-B14F-4D97-AF65-F5344CB8AC3E}">
        <p14:creationId xmlns:p14="http://schemas.microsoft.com/office/powerpoint/2010/main" val="18089183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918EF3-166B-46AC-84FF-2D376AE0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06 · 资源模型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BDD79-4680-4BD9-A0E2-B99095BD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ResourceDescriptor 把供应商差异压缩成稳定的逻辑资源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59500-507E-4B47-BCEA-C50C5BCA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CA421-61FE-4CA2-BD9D-EC4C3ABE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0084A-7716-4B1A-A5B7-C6F2DB9D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02734-5FE4-40A8-8AF4-94759FC4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2A5B3-98E9-49EF-8E91-BB509012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5905500" cy="4114800"/>
          </a:xfrm>
          <a:prstGeom xmlns:a="http://schemas.openxmlformats.org/drawingml/2006/main" prst="roundRect">
            <a:avLst>
              <a:gd name="adj" fmla="val 3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4D034-D553-475B-96EF-7ED077EC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6F9E"/>
                </a:solidFill>
              </a:defRPr>
            </a:pPr>
            <a:r>
              <a:rPr sz="2025" b="1">
                <a:solidFill>
                  <a:srgbClr val="2F6F9E"/>
                </a:solidFill>
              </a:rPr>
              <a:t>ResourceDescriptor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1941B-9CC2-40A9-AC94-D2D16D61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resourceId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733E1-27D2-433A-9DBE-B4397078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622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稳定逻辑标识，不暴露部署地址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E5B78-481A-4739-A8C9-DA8F6C39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EE89F-0FC3-44A0-831E-CD9D319C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860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URL + method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D61A0-FE4E-42C7-8B0D-657D6CAE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86075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路径模板与 HTTP 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DBA19-4965-4E69-93F2-9C7E6403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48025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CDD4B-4E67-41B3-95D7-863E14B1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ParameterMapping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BF2FC-A8D0-4CE8-A59B-5D74B42B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99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path / query / header / cookie / body 表达式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CA655-19B6-4364-BB05-4913B1CE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E857F6-0F96-4764-97FC-5A526929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338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ResponseProtocol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E824B-FB59-4246-9A43-70D8FC4F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33825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HTTP、body code、flag、显式状态码或 DSL 表达式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5C7D5-D5CA-4F5C-86BA-76C14155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3D04B-5554-4B49-B1A3-F2F137E6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payloadPath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17DD0-9F02-4817-ABB0-2E099587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577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从供应商 envelope 提取业务 payload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BD90C-8FD5-45C0-A318-FCBD2D42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E5BA0-68BF-4771-AF89-142C1F15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815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externalWriteContract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CBA628-D71C-4909-B242-C6937FC0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81575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非安全方法的幂等、对账与回执约束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451A84-D988-4F03-8813-32F7E2E9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877D"/>
                </a:solidFill>
              </a:defRPr>
            </a:pPr>
            <a:r>
              <a:rPr sz="1800" b="1">
                <a:solidFill>
                  <a:srgbClr val="2B877D"/>
                </a:solidFill>
              </a:rPr>
              <a:t>设计结果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924ACB-C54A-4351-8921-760E2E4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907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一个通用 httpResource Operator</a:t>
            </a:r>
          </a:p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承载多种供应商协议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73B59B-D011-4D28-A27B-F9122082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4325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7A"/>
                </a:solidFill>
              </a:defRPr>
            </a:pPr>
            <a:r>
              <a:rPr sz="1500" b="0">
                <a:solidFill>
                  <a:srgbClr val="5D6B7A"/>
                </a:solidFill>
              </a:rPr>
              <a:t>新增资源通常只需注册 Descriptor；表达式在写入注册表前预编译，错误不会延迟到生产调用时暴露。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B5DEE0-6CF7-4614-8958-DF070B5B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29150"/>
            <a:ext cx="3905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7AC213-A3D2-44FF-93D4-32F63F69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10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877D"/>
                </a:solidFill>
              </a:defRPr>
            </a:pPr>
            <a:r>
              <a:rPr sz="1500" b="1">
                <a:solidFill>
                  <a:srgbClr val="2B877D"/>
                </a:solidFill>
              </a:rPr>
              <a:t>稳定资源语义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6031FE-06A9-4BD5-B92C-FCD71E03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1244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供应商 URL 与 envelope 可替换</a:t>
            </a:r>
          </a:p>
        </p:txBody>
      </p:sp>
    </p:spTree>
    <p:extLst>
      <p:ext uri="{BB962C8B-B14F-4D97-AF65-F5344CB8AC3E}">
        <p14:creationId xmlns:p14="http://schemas.microsoft.com/office/powerpoint/2010/main" val="19284059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398BAE-2870-4AC6-B18A-7A37B0FA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07 · 运行时内核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16457-F6E3-46FF-BE38-381A6503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通用 Operator 把一次资源调用拆成可审查的确定性流水线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04214-94B1-4649-8C9D-2EA21CFE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9AF74-B458-42B0-AC03-F7AA23C4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B4CCA-90FE-4AC1-B99A-80663BCE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EA340-E2DD-4F6E-92BA-4913575C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1428F-DACB-4C3A-BDE6-A72B8092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13716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CE5C2-90A0-4821-8AF3-71276D87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765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9E"/>
                </a:solidFill>
              </a:defRPr>
            </a:pPr>
            <a:r>
              <a:rPr sz="1500" b="1">
                <a:solidFill>
                  <a:srgbClr val="2F6F9E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D7911-DE62-4746-B14B-DE508013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765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解析 Descriptor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8BA4E-DC99-4C03-BEB5-39B97FE6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343150"/>
            <a:ext cx="13716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48446-4D99-42EB-A894-8917C1ED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765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9E"/>
                </a:solidFill>
              </a:defRPr>
            </a:pPr>
            <a:r>
              <a:rPr sz="1500" b="1">
                <a:solidFill>
                  <a:srgbClr val="2F6F9E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B3F33-22E8-47FC-B03C-3D0805F3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765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求值参数映射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F097C-4AFB-4497-B82C-05798007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43150"/>
            <a:ext cx="13716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5BCB9-2758-4F1D-AFEC-9E04CCAF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4765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877D"/>
                </a:solidFill>
              </a:defRPr>
            </a:pPr>
            <a:r>
              <a:rPr sz="1500" b="1">
                <a:solidFill>
                  <a:srgbClr val="2B877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D4E05-4596-42A1-828D-535D68FD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765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渲染 URL / body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EFAAA1-C18A-4A3D-B01F-7224C77A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43150"/>
            <a:ext cx="13716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92E48-B455-4600-938D-632A7742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765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877D"/>
                </a:solidFill>
              </a:defRPr>
            </a:pPr>
            <a:r>
              <a:rPr sz="1500" b="1">
                <a:solidFill>
                  <a:srgbClr val="2B877D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25AF17-08D6-42E4-9A28-08A20B35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765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合并 header / auth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D2FEE-DF35-4ADF-8251-F425C870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43150"/>
            <a:ext cx="13716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FBD93-4DD7-4429-A8B7-6BFCD14A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765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67B27"/>
                </a:solidFill>
              </a:defRPr>
            </a:pPr>
            <a:r>
              <a:rPr sz="1500" b="1">
                <a:solidFill>
                  <a:srgbClr val="B67B27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6B558-4938-4C44-8126-53B7E84B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765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收紧 timeout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8BCE3-C0CC-4F01-9429-E687E372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43150"/>
            <a:ext cx="13716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B44F55-D07C-4804-8D78-1D663042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765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67B27"/>
                </a:solidFill>
              </a:defRPr>
            </a:pPr>
            <a:r>
              <a:rPr sz="1500" b="1">
                <a:solidFill>
                  <a:srgbClr val="B67B27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69145B-1E5A-4073-9A17-491F58F2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765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执行 HTTP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24071D-5225-44C2-896F-5A459A0D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43150"/>
            <a:ext cx="13716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3CBBF8-9633-45C6-A430-9965AA8F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4765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D5B"/>
                </a:solidFill>
              </a:defRPr>
            </a:pPr>
            <a:r>
              <a:rPr sz="1500" b="1">
                <a:solidFill>
                  <a:srgbClr val="2F7D5B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A15EFE-5BB6-434D-908C-CF79298C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8765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验证协议并提取 payload</a:t>
            </a:r>
          </a:p>
        </p:txBody>
      </p:sp>
      <p:cxnSp>
        <p:nvCxnSpPr>
          <p:cNvPr id="6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962150" y="2943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BC8D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590925" y="2943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BC8D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219700" y="2943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BC8D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848475" y="2943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BC8D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2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477250" y="2943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BC8D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3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0106025" y="29432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BC8D4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795069-FDCA-4BC3-980F-58AFB273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B7A"/>
                </a:solidFill>
              </a:defRPr>
            </a:pPr>
            <a:r>
              <a:rPr sz="1350" b="1">
                <a:solidFill>
                  <a:srgbClr val="5D6B7A"/>
                </a:solidFill>
              </a:rPr>
              <a:t>输入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7F630C-FC19-4FD7-8EC4-D2A7432B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resourceId + params + overrides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4CBFC6-36C7-4BCC-AF59-A453EC51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B7A"/>
                </a:solidFill>
              </a:defRPr>
            </a:pPr>
            <a:r>
              <a:rPr sz="1350" b="1">
                <a:solidFill>
                  <a:srgbClr val="5D6B7A"/>
                </a:solidFill>
              </a:rPr>
              <a:t>输出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6DBF92-33D6-4B40-A8CB-EAFE07CA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resourceId + status + payload + duration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C98465-66D5-4D86-A865-DC17C65B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71950"/>
            <a:ext cx="8572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C50B59-5508-47F1-BA77-A4427850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100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9E"/>
                </a:solidFill>
              </a:defRPr>
            </a:pPr>
            <a:r>
              <a:rPr sz="1500" b="1">
                <a:solidFill>
                  <a:srgbClr val="2F6F9E"/>
                </a:solidFill>
              </a:rPr>
              <a:t>关键约束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2C9C2F-FFB9-4B47-8157-57C604E8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14825"/>
            <a:ext cx="641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Graph 节点只引用逻辑资源；供应商差异在 Operator 内收敛，Graph 仍保持业务可读性。</a:t>
            </a:r>
          </a:p>
        </p:txBody>
      </p:sp>
    </p:spTree>
    <p:extLst>
      <p:ext uri="{BB962C8B-B14F-4D97-AF65-F5344CB8AC3E}">
        <p14:creationId xmlns:p14="http://schemas.microsoft.com/office/powerpoint/2010/main" val="2103376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D0D5E4-2B1F-4110-9F7C-C8724F5A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08 · DSL 编排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9CAE1-9445-4089-AB6A-69E2B150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Graph DSL 表达业务控制流，Java Operator 保持能力稳定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8D42B-5C45-425D-81F7-C47CB191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2FB98-BA1A-461D-AD6E-2882A4E6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E3E0B-6CA8-4EA1-9AF9-A9BEAE54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014A6-D753-4694-9E26-5278348F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2F590-DA5C-4197-8438-1DF62BBA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5334000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01A27"/>
          </a:solidFill>
          <a:ln xmlns:a="http://schemas.openxmlformats.org/drawingml/2006/main" w="9525">
            <a:solidFill>
              <a:srgbClr val="2D42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E67C9-9CD1-4A4C-A418-2AE61D0D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99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EC6BE"/>
                </a:solidFill>
              </a:defRPr>
            </a:pPr>
            <a:r>
              <a:rPr sz="975" b="1">
                <a:solidFill>
                  <a:srgbClr val="8EC6BE"/>
                </a:solidFill>
              </a:rPr>
              <a:t>credit-score.bloge（节选）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6FF8A-16BA-4207-8E59-BAD36B2A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499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6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5EFDB-1773-4FBB-B3CE-1D948698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4991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7F2"/>
                </a:solidFill>
              </a:defRPr>
            </a:pPr>
            <a:r>
              <a:rPr sz="1200" b="0">
                <a:solidFill>
                  <a:srgbClr val="D8E7F2"/>
                </a:solidFill>
              </a:rPr>
              <a:t>node primaryCreditProvider : httpResource {</a:t>
            </a:r>
          </a:p>
          <a:p xmlns:a="http://schemas.openxmlformats.org/drawingml/2006/main">
            <a:pPr algn="l">
              <a:defRPr sz="1200" b="0">
                <a:solidFill>
                  <a:srgbClr val="D8E7F2"/>
                </a:solidFill>
              </a:defRPr>
            </a:pPr>
            <a:r>
              <a:rPr sz="1200" b="0">
                <a:solidFill>
                  <a:srgbClr val="D8E7F2"/>
                </a:solidFill>
              </a:rPr>
              <a:t>  input { resourceId = "credit-provider.primary" }</a:t>
            </a:r>
          </a:p>
          <a:p xmlns:a="http://schemas.openxmlformats.org/drawingml/2006/main">
            <a:pPr algn="l">
              <a:defRPr sz="1200" b="0">
                <a:solidFill>
                  <a:srgbClr val="D8E7F2"/>
                </a:solidFill>
              </a:defRPr>
            </a:pPr>
            <a:r>
              <a:rPr sz="1200" b="0">
                <a:solidFill>
                  <a:srgbClr val="D8E7F2"/>
                </a:solidFill>
              </a:rPr>
              <a:t>  timeout = 3s</a:t>
            </a:r>
          </a:p>
          <a:p xmlns:a="http://schemas.openxmlformats.org/drawingml/2006/main">
            <a:pPr algn="l">
              <a:defRPr sz="1200" b="0">
                <a:solidFill>
                  <a:srgbClr val="D8E7F2"/>
                </a:solidFill>
              </a:defRPr>
            </a:pPr>
            <a:r>
              <a:rPr sz="1200" b="0">
                <a:solidFill>
                  <a:srgbClr val="D8E7F2"/>
                </a:solidFill>
              </a:rPr>
              <a:t>  retry = { attempts: 1, backoff: 500ms }</a:t>
            </a:r>
          </a:p>
          <a:p xmlns:a="http://schemas.openxmlformats.org/drawingml/2006/main">
            <a:pPr algn="l">
              <a:defRPr sz="1200" b="0">
                <a:solidFill>
                  <a:srgbClr val="D8E7F2"/>
                </a:solidFill>
              </a:defRPr>
            </a:pPr>
            <a:r>
              <a:rPr sz="1200" b="0">
                <a:solidFill>
                  <a:srgbClr val="D8E7F2"/>
                </a:solidFill>
              </a:rPr>
              <a:t>  fallback = { success: false }</a:t>
            </a:r>
          </a:p>
          <a:p xmlns:a="http://schemas.openxmlformats.org/drawingml/2006/main">
            <a:pPr algn="l">
              <a:defRPr sz="1200" b="0">
                <a:solidFill>
                  <a:srgbClr val="D8E7F2"/>
                </a:solidFill>
              </a:defRPr>
            </a:pPr>
            <a:r>
              <a:rPr sz="1200" b="0">
                <a:solidFill>
                  <a:srgbClr val="D8E7F2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D8E7F2"/>
                </a:solidFill>
              </a:defRPr>
            </a:pPr>
            <a:r>
              <a:rPr sz="1200" b="0">
                <a:solidFill>
                  <a:srgbClr val="D8E7F2"/>
                </a:solidFill>
              </a:rPr>
              <a:t>branch on primaryCreditProvider.output.success {</a:t>
            </a:r>
          </a:p>
          <a:p xmlns:a="http://schemas.openxmlformats.org/drawingml/2006/main">
            <a:pPr algn="l">
              <a:defRPr sz="1200" b="0">
                <a:solidFill>
                  <a:srgbClr val="D8E7F2"/>
                </a:solidFill>
              </a:defRPr>
            </a:pPr>
            <a:r>
              <a:rPr sz="1200" b="0">
                <a:solidFill>
                  <a:srgbClr val="D8E7F2"/>
                </a:solidFill>
              </a:rPr>
              <a:t>  true      -&gt; assemblePrimary</a:t>
            </a:r>
          </a:p>
          <a:p xmlns:a="http://schemas.openxmlformats.org/drawingml/2006/main">
            <a:pPr algn="l">
              <a:defRPr sz="1200" b="0">
                <a:solidFill>
                  <a:srgbClr val="D8E7F2"/>
                </a:solidFill>
              </a:defRPr>
            </a:pPr>
            <a:r>
              <a:rPr sz="1200" b="0">
                <a:solidFill>
                  <a:srgbClr val="D8E7F2"/>
                </a:solidFill>
              </a:rPr>
              <a:t>  otherwise -&gt; secondaryCreditProvider</a:t>
            </a:r>
          </a:p>
          <a:p xmlns:a="http://schemas.openxmlformats.org/drawingml/2006/main">
            <a:pPr algn="l">
              <a:defRPr sz="1200" b="0">
                <a:solidFill>
                  <a:srgbClr val="D8E7F2"/>
                </a:solidFill>
              </a:defRPr>
            </a:pPr>
            <a:r>
              <a:rPr sz="1200" b="0">
                <a:solidFill>
                  <a:srgbClr val="D8E7F2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11C34-AC9A-48DB-8EF0-395792E3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2405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8F8A3-F5BA-4BB9-956E-CBA91AD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24050"/>
            <a:ext cx="5715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9E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AF1B1-9FE4-477C-8638-1D0FC113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Primary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C8148-D327-46DF-AC03-6D50223B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622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timeout + retry + 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2B9766-03AF-44E6-89B3-C1D40B27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57400"/>
            <a:ext cx="895350" cy="666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56B79-3FF2-49D3-8F15-C42633DD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193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success?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0996C-C3C3-4882-8CB4-54D1274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2190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8EFAC8-0E41-4EED-9076-E6AB057F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5715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77D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95959-EE5D-40A2-92CF-761D3A7C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195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主路径组装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0F968-92DF-4623-A152-8F8FA32B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243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provider = primary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23D1F-59D6-4F63-B307-711AA03C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86150"/>
            <a:ext cx="2190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9EAEA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FCB54E-8488-4C1D-8EED-86730FE2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86150"/>
            <a:ext cx="5715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4B4B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C71EC4-F223-42A6-B746-9C0472DA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195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Secondary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312C6E-C051-488B-A9A9-579041AB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243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仅失败路径触发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BBFC44-C394-4F43-9A14-03304F96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53000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F3ED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F41109-625A-47B2-8A42-CEBB133D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530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B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DF0B45-78D3-42F0-80CA-4B8F4640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863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统一输出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9239AE-1876-434A-9D2A-D95A57DB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911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result = primary ?? secondary</a:t>
            </a:r>
          </a:p>
        </p:txBody>
      </p:sp>
      <p:cxnSp>
        <p:nvCxnSpPr>
          <p:cNvPr id="64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934450" y="2352675"/>
            <a:ext cx="609600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6F9E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15" idx="1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7991475" y="2390775"/>
            <a:ext cx="1552575" cy="10953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2B877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9991725" y="2724150"/>
            <a:ext cx="4572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64B4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7" idx="2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H="1">
            <a:off x="7734300" y="4343400"/>
            <a:ext cx="257175" cy="10001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B877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21" idx="2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10439400" y="4343400"/>
            <a:ext cx="228600" cy="10001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64B4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8BCEA6-0515-416E-864A-A47BF3BE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71800"/>
            <a:ext cx="666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true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C6A4B8-E04E-42BE-9C9B-32E5654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527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EAEA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64B4B"/>
                </a:solidFill>
              </a:defRPr>
            </a:pPr>
            <a:r>
              <a:rPr sz="1050" b="1">
                <a:solidFill>
                  <a:srgbClr val="B64B4B"/>
                </a:solidFill>
              </a:rPr>
              <a:t>otherwise</a:t>
            </a:r>
          </a:p>
        </p:txBody>
      </p:sp>
    </p:spTree>
    <p:extLst>
      <p:ext uri="{BB962C8B-B14F-4D97-AF65-F5344CB8AC3E}">
        <p14:creationId xmlns:p14="http://schemas.microsoft.com/office/powerpoint/2010/main" val="12648382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3C64E6-C460-44FB-B1B4-51F70D13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09 · 运行时序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47266-1DE2-4527-8542-A1B5C998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一次主备降级运行同时保留业务分支与调用事实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2192D-B757-48FB-8B95-9C274079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C2EC1-7BA2-47B4-A90F-EFD15CC2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5CC5B-FD36-4C29-9F6A-91012433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22B09-93BF-4D80-9F5A-73A5F87B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BB42F-21B2-4C46-9313-9A1E301D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调用方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1222D-4BC7-4401-BD9D-B79AC036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5740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F2F55-48F6-4AE8-A131-D675820D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57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GraphEngine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F1F55-BFC7-40BE-86F7-2A497F11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5740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B4CCF-0C7F-4518-BEBE-FC2BA03E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57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Primary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6C256-FEC6-42AA-8CAC-F96C535B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D3AE6-38D3-4FAA-88EC-F0ED7A91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57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Secondary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F7579-3399-4522-B171-32D8B983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FB995-7D12-4967-BC8A-4CA06000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57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D5B"/>
                </a:solidFill>
              </a:defRPr>
            </a:pPr>
            <a:r>
              <a:rPr sz="1500" b="1">
                <a:solidFill>
                  <a:srgbClr val="2F7D5B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C76FD-FE8A-4712-ABAA-233AB93E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05740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7D5B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F37C9C-2EE7-4B29-849B-8658AD3D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3840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B3497-1889-4617-A3DE-4EA772E2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717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9E"/>
                </a:solidFill>
              </a:defRPr>
            </a:pPr>
            <a:r>
              <a:rPr sz="1125" b="1">
                <a:solidFill>
                  <a:srgbClr val="2F6F9E"/>
                </a:solidFill>
              </a:rPr>
              <a:t>execute creditScore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69A44C-3DA4-4D1C-9003-430119C7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90775"/>
            <a:ext cx="14287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9E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A4920-34A0-4CE1-B927-2F87154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8A11B-192B-41F3-A985-7342B240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9E"/>
                </a:solidFill>
              </a:defRPr>
            </a:pPr>
            <a:r>
              <a:rPr sz="1125" b="1">
                <a:solidFill>
                  <a:srgbClr val="2F6F9E"/>
                </a:solidFill>
              </a:rPr>
              <a:t>attempt #1 / timeout 3s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E714DE-2623-4C79-8189-44ACD385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43225"/>
            <a:ext cx="14287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9E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ACF493-B09E-4577-A816-FEB70911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4B4B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59996E-073E-476F-9B6E-A60C7994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4B4B"/>
                </a:solidFill>
              </a:defRPr>
            </a:pPr>
            <a:r>
              <a:rPr sz="1125" b="1">
                <a:solidFill>
                  <a:srgbClr val="B64B4B"/>
                </a:solidFill>
              </a:rPr>
              <a:t>capacity failure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2CC0C6-CA3E-43B0-99B0-FEB7A80C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76625"/>
            <a:ext cx="142875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64B4B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8E1B6E-7A59-4805-A725-8A49B561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576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7B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34FA18-01AB-4B25-A0F5-4DE6C590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90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7B27"/>
                </a:solidFill>
              </a:defRPr>
            </a:pPr>
            <a:r>
              <a:rPr sz="1125" b="1">
                <a:solidFill>
                  <a:srgbClr val="B67B27"/>
                </a:solidFill>
              </a:rPr>
              <a:t>fallback branch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9D7556-3BE4-472D-8BB6-46B31785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10025"/>
            <a:ext cx="14287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7B27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F9AA87-80A2-4EF6-8279-F32E6672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910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877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9B65D8-2AB3-4B7D-A668-42F3D80F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2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877D"/>
                </a:solidFill>
              </a:defRPr>
            </a:pPr>
            <a:r>
              <a:rPr sz="1125" b="1">
                <a:solidFill>
                  <a:srgbClr val="2B877D"/>
                </a:solidFill>
              </a:rPr>
              <a:t>score + provider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5BD23E-A2B4-45FF-9A54-F8BA536D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43425"/>
            <a:ext cx="142875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B877D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EF5683-4BF5-42EF-9590-DCA7C6C6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24450"/>
            <a:ext cx="642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D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73DECD-7FB1-4727-8924-74AD4672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57750"/>
            <a:ext cx="623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D5B"/>
                </a:solidFill>
              </a:defRPr>
            </a:pPr>
            <a:r>
              <a:rPr sz="1125" b="1">
                <a:solidFill>
                  <a:srgbClr val="2F7D5B"/>
                </a:solidFill>
              </a:rPr>
              <a:t>node / attempt / edge facts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C30C68-6B57-4820-B178-D3CD296D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76825"/>
            <a:ext cx="14287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D5B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EDFA27-D73F-4A91-B53E-6AF832D0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816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AC67A4-0220-44D8-A688-71EA9336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149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9E"/>
                </a:solidFill>
              </a:defRPr>
            </a:pPr>
            <a:r>
              <a:rPr sz="1125" b="1">
                <a:solidFill>
                  <a:srgbClr val="2F6F9E"/>
                </a:solidFill>
              </a:rPr>
              <a:t>unified business output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ADACE6-C1DF-47A7-A0E1-B4BE4B37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34025"/>
            <a:ext cx="142875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F6F9E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6AB16B-08CB-49FA-8D6E-19816503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8645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D6B7A"/>
                </a:solidFill>
              </a:defRPr>
            </a:pPr>
            <a:r>
              <a:rPr sz="1425" b="1">
                <a:solidFill>
                  <a:srgbClr val="5D6B7A"/>
                </a:solidFill>
              </a:rPr>
              <a:t>可验证问题：Primary 调用了几次？Secondary 是否只在失败分支触发？最终输出来自哪个 provider？</a:t>
            </a:r>
          </a:p>
        </p:txBody>
      </p:sp>
    </p:spTree>
    <p:extLst>
      <p:ext uri="{BB962C8B-B14F-4D97-AF65-F5344CB8AC3E}">
        <p14:creationId xmlns:p14="http://schemas.microsoft.com/office/powerpoint/2010/main" val="4516831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BC5513-47C6-46D1-B466-73ECFBFF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10 · 横切治理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06819-B26D-4122-BBE1-52989A5F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Interceptor 顺序决定系统语义，不是可互换的中间件列表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CBC64-7A73-4B4B-BAD7-9CAD5A75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12920-0B93-4DF0-BB39-CDC0AC97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A2C75-CF59-46FD-9A22-AF4EEA4D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88392-DAB2-4CE3-BD23-6CC9AAED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15948-974A-45C0-B3FD-A238F4C1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72BC3-D52C-4564-BFFB-44737BA4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9E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4B2BE-5356-421E-8208-2634E98E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资源调用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90E7E-9E8C-44DD-935A-7547A7AF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同一节点、同一输入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48129-0777-462F-8AD7-1066FE35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43100"/>
            <a:ext cx="2190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5D76E-F34B-4240-A3B4-6F620159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43100"/>
            <a:ext cx="5715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77D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9687F-D536-4681-94A4-A7223169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764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1 · Cache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C8FF7-9D44-4703-9243-CE8F1179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命中即短路；不消耗配额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D5242-A114-44CC-8891-9F1D4243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5750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D6A4A1-D975-4DD2-8CBC-9ACCF91C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5750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7B27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84390-FF9F-4452-AADC-3B1F4B2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2 · Rate Limit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81779C-3419-4179-8803-784173B0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956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tenant + provider / global provider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AFC07-BB44-4202-8ECA-483C7E7D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476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9EAEA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784ED-6534-486D-ADC6-D6C71240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5715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4B4B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58DFAA-4FCF-469F-BBF9-5404A9FC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3 · Circuit Breaker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27F178-9492-427E-82C4-B668AA8B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CLOSED → OPEN → HALF_OPEN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97E2EE-2AD3-4888-A2F1-EB39A532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476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0A1BDD-56A3-42CA-A497-4B2B757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5715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9E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17928D-A2E8-4F30-8561-7467E51C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291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Operator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DB16B4-3BCF-4310-B10C-82AC1F7B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339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真实下游调用</a:t>
            </a:r>
          </a:p>
        </p:txBody>
      </p:sp>
      <p:cxnSp>
        <p:nvCxnSpPr>
          <p:cNvPr id="6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819400" y="2371725"/>
            <a:ext cx="552450" cy="790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B877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562600" y="2371725"/>
            <a:ext cx="457200" cy="962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67B2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8401050" y="2371725"/>
            <a:ext cx="457200" cy="962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64B4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096500" y="280035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9E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9D3DB6-EE15-4587-87BE-AA941FAC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67200"/>
            <a:ext cx="50292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877296-F397-4E86-8C59-DBB43248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386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异常语义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CC73A7-FA26-4B3A-A019-940F4437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815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租户配额耗尽：不重试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供应商容量耗尽：可退避重试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熔断开启：快速失败</a:t>
            </a:r>
          </a:p>
        </p:txBody>
      </p:sp>
    </p:spTree>
    <p:extLst>
      <p:ext uri="{BB962C8B-B14F-4D97-AF65-F5344CB8AC3E}">
        <p14:creationId xmlns:p14="http://schemas.microsoft.com/office/powerpoint/2010/main" val="21020061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720E31-2A86-4297-90D3-604565B7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11 · 副作用安全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79E15-4EAE-4F35-B1AC-0EA2E8A5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外部写入默认阻断，只有完整副作用协议才能跨越边界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04FF8-3DAE-455D-B596-A1C41B86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CDF0F-D718-47F4-9AA0-17F64475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3580F-96A3-4EA4-812A-7A2BA2A9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9C8B6-2780-4257-8E99-8AEA8FA4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E3913-6EF9-4E6E-AC33-287D2240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857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F0A38-D9F8-4A1C-85AD-365EEA39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9E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ED387-3417-49C3-8E14-42418653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写入前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1616B-9EA2-4503-81CF-27C0E971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533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幂等键 + 对账引用</a:t>
            </a:r>
          </a:p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Descriptor contract 必须 conformant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BA13F-D258-410F-A925-0D0200A4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285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219F8-E28E-40CA-A01B-34CB9EEF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571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7B27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89778-E736-4550-B5AD-21CDA820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479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SideEffect Journal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36DEE-E483-4DC6-BF08-D57518F0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2533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beginSideEffect</a:t>
            </a:r>
          </a:p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记录 attempt 与 reconciliation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2E340-E0C7-42F8-99C3-1755A7A0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2857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9EAEA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EEBDE-D455-4618-9A4F-CAE1B0AB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4B4B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2CA3B-B549-4102-A904-53C8EB30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外部 Provider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D8925-8A06-4DC1-9B2C-6ABDE5EC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533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执行 HTTP mutation</a:t>
            </a:r>
          </a:p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返回 commit receipt</a:t>
            </a:r>
          </a:p>
        </p:txBody>
      </p: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2914650"/>
            <a:ext cx="10477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6F9E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7524750" y="2914650"/>
            <a:ext cx="10477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64B4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D12053-B449-4823-9875-12C69606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000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9F3ED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BE41B2-4F5D-4E1F-978B-8E8E1A58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57150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B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DF9365-B510-45ED-9D74-56AC4716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6725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COMMITTED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AC814-BBD4-4064-B474-0240583C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72050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receiptId + provider + transactionRef + proof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D0EAD6-6120-431A-8EFA-B680E324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33900"/>
            <a:ext cx="4000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9EAEA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9CA49F-918F-4DBA-B9E4-939BBCCA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33900"/>
            <a:ext cx="57150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4B4B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BA72A0-3DE7-4A89-87F5-368B4B77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NOT COMMITTED / UNKNOWN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DCB10C-8C2D-4812-8D7F-81DB9ECD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72050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拒绝、缺失回执或需要 reconciliation</a:t>
            </a:r>
          </a:p>
        </p:txBody>
      </p:sp>
      <p:cxnSp>
        <p:nvCxnSpPr>
          <p:cNvPr id="60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8801100" y="3581400"/>
            <a:ext cx="120015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7D5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1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3390900" y="3733800"/>
            <a:ext cx="270510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64B4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93646E-9477-47D6-919C-43D57AC1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10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D6B7A"/>
                </a:solidFill>
              </a:defRPr>
            </a:pPr>
            <a:r>
              <a:rPr sz="1425" b="1">
                <a:solidFill>
                  <a:srgbClr val="5D6B7A"/>
                </a:solidFill>
              </a:rPr>
              <a:t>安全规则：POST / PUT / DELETE 等写方法没有 conformant externalWriteContract 时，Operator 直接 fail closed。</a:t>
            </a:r>
          </a:p>
        </p:txBody>
      </p:sp>
    </p:spTree>
    <p:extLst>
      <p:ext uri="{BB962C8B-B14F-4D97-AF65-F5344CB8AC3E}">
        <p14:creationId xmlns:p14="http://schemas.microsoft.com/office/powerpoint/2010/main" val="8940200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7CEA18-4726-44B4-888C-E9DABC28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12 · 契约与就绪度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45A04-3B18-4B51-B51C-28CE9435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Schema 不是文档附件，而是编译、测试和发布的共同门槛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A69A3-EAEA-45B0-9447-F84C87C8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3A9DC-E6CF-42FA-83C6-A330312F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D9A02-1D51-4DE5-9C05-616C7A3A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6AA43-A083-4FFE-8AB5-C94AE727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26CC9-2895-4E6C-A021-67D28C7D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9E79C-1FB4-461D-8549-107F7989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9E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98110-C42A-4123-840E-DA124643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28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1181A-54E9-4AE5-8F33-5956DE53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628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输入 / 输出 / 端口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027C8-248C-4678-9AAF-DAD6AA4E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4790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8E348-9967-481B-A671-62097195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4790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77D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11AF7-7EA5-4CB9-8F4E-BBD739E0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0"/>
            <a:ext cx="1628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8A4E5-A458-4300-8A6C-6CB7083D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86050"/>
            <a:ext cx="1628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节点、边、绑定、快照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87628-1454-43A1-B50C-A18CE399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4790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569E2-900C-4531-A79C-2B414532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4790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7B27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24F1C-2AFC-4BF7-9268-D79DC854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628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0D328-A27F-4727-86D6-87D208CE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1628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Schema + secret + dependency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EC97F-71DC-473A-8398-D5F4B903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4790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57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6F9EC-1ACA-443E-825E-7D0D632D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4790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A8"/>
          </a:solidFill>
          <a:ln xmlns:a="http://schemas.openxmlformats.org/drawingml/2006/main" w="9525">
            <a:solidFill>
              <a:srgbClr val="6657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39800-93EC-40C2-82A1-CC3FF457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81250"/>
            <a:ext cx="1628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144E32-7CF3-4341-8486-3A54DD22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1628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binding + lowering +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4E4B5E-6E61-44F3-9541-EB1A8FF7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4790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3D07A8-B394-4729-9BC2-846D0EF8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4790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B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3573B8-C9E7-40BC-A2E4-07CBDBE2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81250"/>
            <a:ext cx="1628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Publication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7EFCF9-72D6-4A50-90AF-955902FE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86050"/>
            <a:ext cx="1628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DESIGN 或 EXECUTABLE</a:t>
            </a:r>
          </a:p>
        </p:txBody>
      </p:sp>
      <p:cxnSp>
        <p:nvCxnSpPr>
          <p:cNvPr id="6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562225" y="27813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BC8D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829175" y="27813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BC8D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096125" y="27813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BC8D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363075" y="27813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BC8D4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FF0556-BD78-4BB0-B14A-59DAC83D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4381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8EB49-505E-42D5-9AD6-68FE1E36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9E"/>
                </a:solidFill>
              </a:defRPr>
            </a:pPr>
            <a:r>
              <a:rPr sz="1650" b="1">
                <a:solidFill>
                  <a:srgbClr val="2F6F9E"/>
                </a:solidFill>
              </a:rPr>
              <a:t>DESIGN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3E836F-F1BF-4065-9594-049B2276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053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Schema 合法、可评审，但运行绑定可能缺失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A87ACB-7551-4FFD-AA3F-DAF1C33F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381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F3ED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6B0062-38B5-4993-9BA6-4CE146AD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0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D5B"/>
                </a:solidFill>
              </a:defRPr>
            </a:pPr>
            <a:r>
              <a:rPr sz="1650" b="1">
                <a:solidFill>
                  <a:srgbClr val="2F7D5B"/>
                </a:solidFill>
              </a:rPr>
              <a:t>EXECUTABLE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D3C0E1-ED9A-48D8-8AA2-AE54AD7C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053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运行绑定、lowering、治理证据均满足门槛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69F12-B8DA-45F0-B2F8-8ECA3B50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38800"/>
            <a:ext cx="979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D6B7A"/>
                </a:solidFill>
              </a:defRPr>
            </a:pPr>
            <a:r>
              <a:rPr sz="1425" b="1">
                <a:solidFill>
                  <a:srgbClr val="5D6B7A"/>
                </a:solidFill>
              </a:rPr>
              <a:t>关键约束：导入的 OperatorDefinition 不能自报可信 runtimeReadiness；就绪状态由服务端证据重新投影。</a:t>
            </a:r>
          </a:p>
        </p:txBody>
      </p:sp>
    </p:spTree>
    <p:extLst>
      <p:ext uri="{BB962C8B-B14F-4D97-AF65-F5344CB8AC3E}">
        <p14:creationId xmlns:p14="http://schemas.microsoft.com/office/powerpoint/2010/main" val="5956571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3E1FF4-DA72-435D-A0DE-E7DF7FD1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13 · 测试架构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83ACA-1E3C-4025-A332-7FC8C75E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可测试性来自运行时可替换边界，而不是事后增加更多 Mock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3F0EB-68BB-4C28-882B-6D18537D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909D0-5542-4C52-AF12-A410DEAB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C3723-97CA-4CFF-9FEF-85F3EA24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5187D-F9C8-4AC8-A6A5-083F1A65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19B2B-02B0-4E93-9D8C-3602C11F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9E"/>
                </a:solidFill>
              </a:defRPr>
            </a:pPr>
            <a:r>
              <a:rPr sz="1875" b="1">
                <a:solidFill>
                  <a:srgbClr val="2F6F9E"/>
                </a:solidFill>
              </a:rPr>
              <a:t>生产执行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AA2D7-3575-439F-A2F2-338B7B63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476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C252C-BC04-49F5-9EE4-3E2672CC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9E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FFBC5-1D8C-4B2D-8DD2-30E25884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Production 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ED4B9-25E0-40C2-800C-60D09D7C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真实 DSL 与拓扑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2AAC3-264E-4298-97C8-C8B245A7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09800"/>
            <a:ext cx="285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D3EAD-D5B8-47D4-BF8C-B963BD12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0980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77D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BBC4C-C3C7-4AEA-95E0-074C528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Shared GraphEngine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9A595-333B-441C-B0BB-18B61A21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Interceptor / cache / quota / circuit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3211C5-6E2D-411C-8909-2D224050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285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AEA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44747-8190-48F2-97DD-A0426780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4B4B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FAA143-75AA-4C40-AED6-CDB69E10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Real Providers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D0355-43FB-4BEA-A6FC-EDFAF9E3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网络与真实副作用</a:t>
            </a:r>
          </a:p>
        </p:txBody>
      </p:sp>
      <p:cxnSp>
        <p:nvCxnSpPr>
          <p:cNvPr id="58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333750" y="26860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9E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48500" y="26860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4B4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21225C-196A-4B93-9E0A-93BD94D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BC8D4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171AA4-551E-4C72-82B4-8065F89D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67B27"/>
                </a:solidFill>
              </a:defRPr>
            </a:pPr>
            <a:r>
              <a:rPr sz="1875" b="1">
                <a:solidFill>
                  <a:srgbClr val="B67B27"/>
                </a:solidFill>
              </a:rPr>
              <a:t>隔离测试执行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B49E67-6F16-4510-A04B-20A02391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2476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51D2F2-6912-4FFA-9574-8074BE4B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9E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60E72A-5BE9-4204-88E0-823F74B1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同一 Graph Artifact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B1312D-7D2C-4D8A-AD93-CD4D38FF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不复制业务拓扑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C29425-F543-4961-AD0B-A42F732D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38650"/>
            <a:ext cx="285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08B4CA-63E1-450A-B72B-105CC414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386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7B27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1603B6-E848-4647-84B9-26CC677B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720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Fresh Isolated Engine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3DC0A7-7C00-4D7E-8D6D-AE6EC172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7680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不共享 interceptor / listener / store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144A7D-E46F-48C4-9ABC-7E0522F0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285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ECF8"/>
          </a:solidFill>
          <a:ln xmlns:a="http://schemas.openxmlformats.org/drawingml/2006/main" w="9525">
            <a:solidFill>
              <a:srgbClr val="6657A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6BF35D-CA94-470C-9878-F6DF5939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A8"/>
          </a:solidFill>
          <a:ln xmlns:a="http://schemas.openxmlformats.org/drawingml/2006/main" w="9525">
            <a:solidFill>
              <a:srgbClr val="6657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778022-13C6-4BAC-82BC-C6939F8B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Fixture Runtime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96E885-C680-4F35-8CD5-E0215092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7680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RETURN / ERROR / TIMEOUT / must-not-call</a:t>
            </a:r>
          </a:p>
        </p:txBody>
      </p:sp>
      <p:cxnSp>
        <p:nvCxnSpPr>
          <p:cNvPr id="74" name=""/>
          <p:cNvCxnSpPr>
            <a:stCxn xmlns:a="http://schemas.openxmlformats.org/drawingml/2006/main" id="2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3333750" y="49149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9E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5" name=""/>
          <p:cNvCxnSpPr>
            <a:stCxn xmlns:a="http://schemas.openxmlformats.org/drawingml/2006/main" id="28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048500" y="49149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57A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7C8034-F436-45A1-9F34-F7A1D569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531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D6B7A"/>
                </a:solidFill>
              </a:defRPr>
            </a:pPr>
            <a:r>
              <a:rPr sz="1575" b="1">
                <a:solidFill>
                  <a:srgbClr val="5D6B7A"/>
                </a:solidFill>
              </a:rPr>
              <a:t>测试真实业务控制流，只替换资源依赖与运行数据</a:t>
            </a:r>
          </a:p>
        </p:txBody>
      </p:sp>
    </p:spTree>
    <p:extLst>
      <p:ext uri="{BB962C8B-B14F-4D97-AF65-F5344CB8AC3E}">
        <p14:creationId xmlns:p14="http://schemas.microsoft.com/office/powerpoint/2010/main" val="18589332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BDFF38-ECFE-4350-91F6-C6233AE7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14 · 数据控制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9D038-CF5D-4EA6-A3D0-6F74932E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Fixture 把‘依赖怎么失败’编译成有界、可消费的运行控制计划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6360A-5CB8-4766-9B97-E790E162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33A87-E315-44F0-8144-D7F066B0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3DE30-2B5B-4DC5-ADEB-07626B38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54D61-7EA2-4334-843A-977BC63E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566AA-CAA5-4B3D-8D2D-33D995FF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571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88963-A35E-467B-B434-4B5C06FD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5715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9E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C05C5-640E-4205-A602-612C799D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WHERE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7DBF7-1258-4359-9C51-0B1FE76C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224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node / operator / resource</a:t>
            </a:r>
          </a:p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invocation site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B5553-937A-4B4F-A1AA-212F17C2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571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53AA7-9303-4404-952C-88F2EE2B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715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77D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56F72-9939-46C4-9C86-DA64AD5F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WHEN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BD61A-6C71-44A7-A2CC-15DDD2EE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24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attempt / occurrence</a:t>
            </a:r>
          </a:p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identity / feature flag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FF62C-1B16-4679-B2E6-070ABCA9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571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EC4BA-7088-45E0-B5D4-46CE4296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5715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7B27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F3548-75A2-454F-BED1-78E2F2CB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HOW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A552C-1200-44FA-BFFA-676CCC96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224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RETURN / ERROR / TIMEOUT</a:t>
            </a:r>
          </a:p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DELAY / protocol 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408E94-0D76-4BB1-8F28-567E6293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05100"/>
            <a:ext cx="30480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FECF8"/>
          </a:solidFill>
          <a:ln xmlns:a="http://schemas.openxmlformats.org/drawingml/2006/main" w="9525">
            <a:solidFill>
              <a:srgbClr val="6657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208C73-C7EA-48BF-A0B9-87A344AD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05100"/>
            <a:ext cx="57150" cy="1771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A8"/>
          </a:solidFill>
          <a:ln xmlns:a="http://schemas.openxmlformats.org/drawingml/2006/main" w="9525">
            <a:solidFill>
              <a:srgbClr val="6657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98AF0E-8DF9-438D-B318-87C71D6E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384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CompiledExecutionControl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D989E1-FB28-40A4-8072-232E7204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43250"/>
            <a:ext cx="2724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选择器冲突检查</a:t>
            </a:r>
          </a:p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消费次数与 unmatched policy</a:t>
            </a:r>
          </a:p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逻辑时间与安全预检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A15F9E-6911-404A-9CDC-465B144B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05100"/>
            <a:ext cx="26670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9F3ED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A56BF4-FCFB-4821-8183-80C15E63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05100"/>
            <a:ext cx="57150" cy="1771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B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EC80B7-DEB9-4445-866A-98F2C98E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Fixture Runtime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4C2099-B2D0-4A0E-8355-E785AC76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343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按 exact coordinate 匹配</a:t>
            </a:r>
          </a:p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记录 consumption 与 invocation facts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787F8-857D-4292-BD2E-BE41C32B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71725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3D6850-ABBD-4895-AC37-145C236D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71725"/>
            <a:ext cx="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FA8B8B-3F9F-45D6-BCC5-11BA20E5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D254E8-5E1A-488C-BED8-DF7E333C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48000"/>
            <a:ext cx="1428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9E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35D58C-E5CC-49CC-8ACC-0B1F0FF6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14775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877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48E067-7A4C-4079-B257-DDB17674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90925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877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6442B1-FF18-4A04-88E8-30BF30C6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909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877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7A11EE-E120-4724-B486-3DE5ED78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533775"/>
            <a:ext cx="1428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877D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A6A4C3-E61E-44CC-AB62-B70ABF23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57825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7B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D42F17-0261-447A-95DE-0028E369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76700"/>
            <a:ext cx="0" cy="1381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7B2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2F68BF-67FC-4BF3-978D-20B16514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767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7B2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BE2BB8-1260-48CB-9890-E8B8529F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19550"/>
            <a:ext cx="1428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7B27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cxnSp>
        <p:nvCxnSpPr>
          <p:cNvPr id="79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696200" y="3590925"/>
            <a:ext cx="1162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57A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D0958D-EB92-499F-BE42-A02AB3DB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1495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D6B7A"/>
                </a:solidFill>
              </a:defRPr>
            </a:pPr>
            <a:r>
              <a:rPr sz="1425" b="1">
                <a:solidFill>
                  <a:srgbClr val="5D6B7A"/>
                </a:solidFill>
              </a:rPr>
              <a:t>默认严格：未声明依赖失败关闭；重叠规则预先拒绝；TIMEOUT / DELAY 使用逻辑时钟。</a:t>
            </a:r>
          </a:p>
        </p:txBody>
      </p:sp>
    </p:spTree>
    <p:extLst>
      <p:ext uri="{BB962C8B-B14F-4D97-AF65-F5344CB8AC3E}">
        <p14:creationId xmlns:p14="http://schemas.microsoft.com/office/powerpoint/2010/main" val="7887825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7135A5-21AF-4C98-9A68-BBB63060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15 · 正确性分层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35F64-EDC7-4599-8032-6312C72C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‘测试通过’只是第一个判断，不能替代覆盖、晋级与组织批准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EFCF1-2625-4D6C-AC58-1C1D3B17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94E3B-D5D7-4D82-85A1-A5998A18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4C028-2785-4D53-94D6-18B696B6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6BE88-EAA1-4C73-9044-F64A89F6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4D8FB-D58C-432B-B722-D7ADCEC8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14500"/>
            <a:ext cx="9982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109A3-9D08-4A70-8687-1828528B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192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9E"/>
                </a:solidFill>
              </a:defRPr>
            </a:pPr>
            <a:r>
              <a:rPr sz="1350" b="1">
                <a:solidFill>
                  <a:srgbClr val="2F6F9E"/>
                </a:solidFill>
              </a:rPr>
              <a:t>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7A9C1-B3D4-4747-9493-5C5E451D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192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断言与 Graph 执行通过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EBB05-1228-43B6-AB4A-739CA608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764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4B4B"/>
                </a:solidFill>
              </a:defRPr>
            </a:pPr>
            <a:r>
              <a:rPr sz="1650" b="1">
                <a:solidFill>
                  <a:srgbClr val="B64B4B"/>
                </a:solidFill>
              </a:rPr>
              <a:t>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19AF3-246C-4B88-93A2-9FB75594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9982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F2916-87F0-4224-89ED-3B1CA54F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0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877D"/>
                </a:solidFill>
              </a:defRPr>
            </a:pPr>
            <a:r>
              <a:rPr sz="1350" b="1">
                <a:solidFill>
                  <a:srgbClr val="2B877D"/>
                </a:solidFill>
              </a:rPr>
              <a:t>COVERAGE SATISFIED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57800-6DBB-4166-A8F5-F86605D2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032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覆盖分母、required nodes 与调用计数满足策略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388C2-BD37-4E81-B0FC-D4FC2177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575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4B4B"/>
                </a:solidFill>
              </a:defRPr>
            </a:pPr>
            <a:r>
              <a:rPr sz="1650" b="1">
                <a:solidFill>
                  <a:srgbClr val="B64B4B"/>
                </a:solidFill>
              </a:rPr>
              <a:t>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749B80-B4F0-403E-AE4D-E3A7C111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9982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C9400-6589-43B5-B50D-B3713792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813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7B27"/>
                </a:solidFill>
              </a:defRPr>
            </a:pPr>
            <a:r>
              <a:rPr sz="1350" b="1">
                <a:solidFill>
                  <a:srgbClr val="B67B27"/>
                </a:solidFill>
              </a:rPr>
              <a:t>PROMOTION ELIGIBLE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B896E-097D-41E8-AD8E-5102F0BD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813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目标版本、Fixture 消费和证据条件允许晋级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6A4736-A5F6-4610-BFA0-C3CDED64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385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4B4B"/>
                </a:solidFill>
              </a:defRPr>
            </a:pPr>
            <a:r>
              <a:rPr sz="1650" b="1">
                <a:solidFill>
                  <a:srgbClr val="B64B4B"/>
                </a:solidFill>
              </a:rPr>
              <a:t>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2FA3E-0D4F-42FF-82A4-F49376C9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9982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57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65DCFE-43CE-4E48-BD38-A3544523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624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57A8"/>
                </a:solidFill>
              </a:defRPr>
            </a:pPr>
            <a:r>
              <a:rPr sz="1350" b="1">
                <a:solidFill>
                  <a:srgbClr val="6657A8"/>
                </a:solidFill>
              </a:rPr>
              <a:t>SIGNATURE VERIFIED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14522C-17C5-40F3-A172-5A9A8225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6242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Schema、fingerprint、闭包、签名与 key lifecycle 可验证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C02927-B396-4340-994F-F6BFA350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19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4B4B"/>
                </a:solidFill>
              </a:defRPr>
            </a:pPr>
            <a:r>
              <a:rPr sz="1650" b="1">
                <a:solidFill>
                  <a:srgbClr val="B64B4B"/>
                </a:solidFill>
              </a:rPr>
              <a:t>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C13A0B-7187-4C33-B081-28DD7C1D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38700"/>
            <a:ext cx="99822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396404-7113-4154-926C-E3F36F24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434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5B"/>
                </a:solidFill>
              </a:defRPr>
            </a:pPr>
            <a:r>
              <a:rPr sz="1350" b="1">
                <a:solidFill>
                  <a:srgbClr val="2F7D5B"/>
                </a:solidFill>
              </a:rPr>
              <a:t>PUBLISH APPROVED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2D37D6-B03C-4837-B34A-A48F6CBB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434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业务 Owner、风险策略和组织门禁最终批准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4A7605-5DCC-4756-882C-87D067D3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4B4B"/>
                </a:solidFill>
              </a:defRPr>
            </a:pPr>
            <a:r>
              <a:rPr sz="1350" b="1">
                <a:solidFill>
                  <a:srgbClr val="B64B4B"/>
                </a:solidFill>
              </a:rPr>
              <a:t>工程原则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19F643-39DD-4AD3-8A55-9FA95092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721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任何综合分数都不能隐藏未覆盖分母、Waiver、过期证据或信任根漂移。</a:t>
            </a:r>
          </a:p>
        </p:txBody>
      </p:sp>
    </p:spTree>
    <p:extLst>
      <p:ext uri="{BB962C8B-B14F-4D97-AF65-F5344CB8AC3E}">
        <p14:creationId xmlns:p14="http://schemas.microsoft.com/office/powerpoint/2010/main" val="14186418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B02C50-EE67-4A02-BB5D-7E151281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16 · 证据与信任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7BA54-4E22-4CF6-8D4E-A3E82782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Evidence 的可信度来自独立重算，而不是服务端自报‘已验证’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2C342-847A-46D2-B861-664048C6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5C7E3-9243-4712-BB77-B9F411B5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E9223-3F2B-4D57-BB7C-E08ADA79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94F67-3AC4-4975-8F6C-62E31EEC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45EA5-08ED-4ED7-B492-62389816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9527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0B0D7-27F9-45F2-AB8D-506AD2B0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9E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8B6A3-EDDE-4B4F-AE3A-45A8B038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Resource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57F46-3C44-45F5-8131-09B0E250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628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执行 exact target / suite</a:t>
            </a:r>
          </a:p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生成 payload-free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B9E77-BB15-4A1E-A84D-139D7B72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9527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FECF8"/>
          </a:solidFill>
          <a:ln xmlns:a="http://schemas.openxmlformats.org/drawingml/2006/main" w="9525">
            <a:solidFill>
              <a:srgbClr val="6657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7AF93-E974-4AF1-9A5A-8C4B6D54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A8"/>
          </a:solidFill>
          <a:ln xmlns:a="http://schemas.openxmlformats.org/drawingml/2006/main" w="9525">
            <a:solidFill>
              <a:srgbClr val="6657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5BB1A-45C2-4269-AF07-1A94309D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Evidence Bundle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143E4-C88E-4C8D-8197-5A8A0A91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00350"/>
            <a:ext cx="2628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schemaVersion · fingerprint</a:t>
            </a:r>
          </a:p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attestation · keyId · closure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E50D2-643D-4A94-A560-82EED5A9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9527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9F3ED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8BB0C-BDC0-4029-89C4-A90F44CD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B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7BEBE-CA9F-47AD-9E65-4835AC19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955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独立 Test Kit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1ABBB-F2B4-4F91-AC3F-A98E34DC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2628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校验 Schema、身份绑定、内容地址</a:t>
            </a:r>
          </a:p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签名、key lifecycle 与 closure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733800" y="3057525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9E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81900" y="30575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57A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AE5AA-F07C-48FD-95B9-6C7E9F22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430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4B4B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0C3447-844C-406E-AE0E-BBC1BBAC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EAEA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64B4B"/>
                </a:solidFill>
              </a:defRPr>
            </a:pPr>
            <a:r>
              <a:rPr sz="1050" b="1">
                <a:solidFill>
                  <a:srgbClr val="B64B4B"/>
                </a:solidFill>
              </a:rPr>
              <a:t>信任边界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38CF44-C4DC-45C3-8E43-C26A7B24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0"/>
            <a:ext cx="2952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9EAEA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6C80BB-22BB-4F43-8F2B-CFD6924E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0"/>
            <a:ext cx="5715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4B4B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FD6B6E-757C-4C32-9B0D-AB9CA088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053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Caller-owned Trust Pin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2F8AB3-5AFE-4FA6-A9A4-E31A2C08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1015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独立渠道固定 key-set fingerprint</a:t>
            </a:r>
          </a:p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或外部 authority</a:t>
            </a:r>
          </a:p>
        </p:txBody>
      </p:sp>
      <p:cxnSp>
        <p:nvCxnSpPr>
          <p:cNvPr id="55" name=""/>
          <p:cNvCxnSpPr>
            <a:stCxn xmlns:a="http://schemas.openxmlformats.org/drawingml/2006/main" id="23" idx="0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9934575" y="3752850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4B4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227028-C65F-48A5-B6F7-5C810F3A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531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64B4B"/>
                </a:solidFill>
              </a:defRPr>
            </a:pPr>
            <a:r>
              <a:rPr sz="1575" b="1">
                <a:solidFill>
                  <a:srgbClr val="B64B4B"/>
                </a:solidFill>
              </a:rPr>
              <a:t>不能从待验证响应中同时取得 Evidence 和最终信任根</a:t>
            </a:r>
          </a:p>
        </p:txBody>
      </p:sp>
    </p:spTree>
    <p:extLst>
      <p:ext uri="{BB962C8B-B14F-4D97-AF65-F5344CB8AC3E}">
        <p14:creationId xmlns:p14="http://schemas.microsoft.com/office/powerpoint/2010/main" val="17345614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89F1EB-5AC4-4513-93E4-F3A90ED6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17 · 智能体协作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41E94-F147-4326-8AE9-55DD474F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业务资产 DSL 化后，编码智能体可以进入受约束的软件工程工作流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8C4E1-689E-4E79-9392-D635DB7C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EF045-BE23-4CCF-9F30-7D54C701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71473-AA03-4503-B443-B6CEA93E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E3C64-C14B-4C92-81D2-31C0509C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BCFD2-C86F-4E86-9E34-C94D8EF8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16954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DDEB2-6F1A-4D31-BFF1-6F1E0CD2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5715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9E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83955-7F0B-4F8F-8330-F1046A43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业务意图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648EA-B98C-44B5-9C26-1DA6A516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37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目标 · 约束</a:t>
            </a:r>
          </a:p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Oracle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51570-B9D1-439E-A0A8-541A47A9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81250"/>
            <a:ext cx="16954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1FC33-BAF1-4269-BB9A-CF5826BF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81250"/>
            <a:ext cx="5715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77D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04090-8ABD-4BAB-A593-5FDB5FEB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146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检索资产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9FB1F-3EDC-467B-A198-B38EEA79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19400"/>
            <a:ext cx="137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Descriptor / Graph / Scenario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27F77-73F6-4CCB-A9EF-FCBFD664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16954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57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50970-E7FB-40C7-971F-16626CB1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5715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A8"/>
          </a:solidFill>
          <a:ln xmlns:a="http://schemas.openxmlformats.org/drawingml/2006/main" w="9525">
            <a:solidFill>
              <a:srgbClr val="6657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1FECD-C7A7-4279-B2ED-2870EBF5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生成最小 Diff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17C22-5984-4E1D-9D34-12BD8B6D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19400"/>
            <a:ext cx="137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不直接操作生产配置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67D6A-FC29-4FFA-83AA-F7EACA28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16954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F9FA3-07B6-44F1-A6EB-5E036E21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5715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7B27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3143B3-BF5A-484B-A865-4013BA7E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确定性验证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E45070-75DC-4CE5-B116-9B703DEB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19400"/>
            <a:ext cx="137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Schema / Fixture / 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BA054-ABBA-4FCB-9281-E8709444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16954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0C1237-35CC-429F-8354-E82BD561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5715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4B4B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2766DD-E3C5-489F-B1E9-20998442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人工门禁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BA786B-8E65-4EB0-9FBC-36141B3D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19400"/>
            <a:ext cx="137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审阅差异、风险与 Waiver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8CB043-2CA5-4383-AEC9-D14513F1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81250"/>
            <a:ext cx="16954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2B1FA0-F903-47B2-AFE0-A3FDA207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81250"/>
            <a:ext cx="5715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B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63960F-94DB-4E50-96FB-A16EC925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146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版本化发布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4907B7-D466-46FD-84A7-76990B07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19400"/>
            <a:ext cx="137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</a:defRPr>
            </a:pPr>
            <a:r>
              <a:rPr sz="1125" b="0">
                <a:solidFill>
                  <a:srgbClr val="5D6B7A"/>
                </a:solidFill>
              </a:rPr>
              <a:t>资产 + Evidence 同步晋级</a:t>
            </a:r>
          </a:p>
        </p:txBody>
      </p:sp>
      <p:cxnSp>
        <p:nvCxnSpPr>
          <p:cNvPr id="7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71700" y="29527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BC8D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3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114800" y="29527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BC8D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4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057900" y="29527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BC8D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5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001000" y="29527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BC8D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6" name=""/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944100" y="29527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BC8D4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0433DB-70DD-4A9A-ADF3-65888235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33900"/>
            <a:ext cx="85344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7D0F9C-3D11-425D-B3B0-90A18246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339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F9E"/>
                </a:solidFill>
              </a:defRPr>
            </a:pPr>
            <a:r>
              <a:rPr sz="1575" b="1">
                <a:solidFill>
                  <a:srgbClr val="2F6F9E"/>
                </a:solidFill>
              </a:rPr>
              <a:t>失败证据返回下一轮资产修改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3F2475-6B2A-46B2-A24E-AE08F1D4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529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diagnostic · uncovered denominator · invocation trace · owner correction</a:t>
            </a:r>
          </a:p>
        </p:txBody>
      </p:sp>
      <p:cxnSp>
        <p:nvCxnSpPr>
          <p:cNvPr id="80" name=""/>
          <p:cNvCxnSpPr>
            <a:stCxn xmlns:a="http://schemas.openxmlformats.org/drawingml/2006/main" id="27" idx="2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>
            <a:off x="10363200" y="3524250"/>
            <a:ext cx="676275" cy="1438275"/>
          </a:xfrm>
          <a:prstGeom xmlns:a="http://schemas.openxmlformats.org/drawingml/2006/main" prst="bentConnector5">
            <a:avLst>
              <a:gd name="adj1" fmla="val 0"/>
              <a:gd name="adj2" fmla="val 15894"/>
              <a:gd name="adj3" fmla="val 66197"/>
            </a:avLst>
          </a:prstGeom>
          <a:ln xmlns:a="http://schemas.openxmlformats.org/drawingml/2006/main" w="19050">
            <a:solidFill>
              <a:srgbClr val="2F6F9E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81" name=""/>
          <p:cNvCxnSpPr>
            <a:stCxn xmlns:a="http://schemas.openxmlformats.org/drawingml/2006/main" id="36" idx="1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1600200" y="3524250"/>
            <a:ext cx="1666875" cy="14382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F6F9E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E28957-ED13-4C52-BA32-FF233178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340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D6B7A"/>
                </a:solidFill>
              </a:defRPr>
            </a:pPr>
            <a:r>
              <a:rPr sz="1575" b="1">
                <a:solidFill>
                  <a:srgbClr val="5D6B7A"/>
                </a:solidFill>
              </a:rPr>
              <a:t>智能体负责生成与修复；确定性工具负责证明；业务 Owner 负责 Oracle 和最终批准。</a:t>
            </a:r>
          </a:p>
        </p:txBody>
      </p:sp>
    </p:spTree>
    <p:extLst>
      <p:ext uri="{BB962C8B-B14F-4D97-AF65-F5344CB8AC3E}">
        <p14:creationId xmlns:p14="http://schemas.microsoft.com/office/powerpoint/2010/main" val="19004880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9EC7DF-3850-4630-AEF7-119434BB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18 · 模块与扩展点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F7858-E87E-4CCE-ABC3-21985E11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深模块边界让运行、测试和治理可以独立升级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6A32E-CEFE-4BE2-B49A-73A036FD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64583-B60D-4E0E-ADE5-8946C519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B6177-320D-46EA-BAAD-B277A85C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31204-A6CC-4C0C-9704-3EDA4552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22C19-5538-494D-B3F2-4DCA6223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6991350" cy="3657600"/>
          </a:xfrm>
          <a:prstGeom xmlns:a="http://schemas.openxmlformats.org/drawingml/2006/main" prst="roundRect">
            <a:avLst>
              <a:gd name="adj" fmla="val 36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DB8D7-E35C-4664-8A28-944ACBD7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9E"/>
                </a:solidFill>
              </a:defRPr>
            </a:pPr>
            <a:r>
              <a:rPr sz="1800" b="1">
                <a:solidFill>
                  <a:srgbClr val="2F6F9E"/>
                </a:solidFill>
              </a:rPr>
              <a:t>resource-gateway-examples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B3195-3D19-4CB1-AD17-F9FBD273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gateway.resource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700E7-C5A6-4C3F-9F09-DD2E34EA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Descriptor / Registry / persistence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7193D-C457-4039-B117-AB5E0BC4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gateway.operator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A281A-4513-4F44-97E2-41EAB764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28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通用资源执行与协议适配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65196-BD23-4130-A091-E2BDCE09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gateway.visual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3C1EA-48E1-4D19-A4A5-540EBE69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623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Contract / Draft / Publication / Runtime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DB46F-159C-4D6B-B122-53BFC134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gateway.testing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E8D19-BF38-4B4B-8261-0DF48298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Fixture / Suite / Isolated execution /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9B95A-8CB5-47A0-A5BE-11375319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gateway.integration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1F86B-770D-4EE8-BAAE-30FA7A99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291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A"/>
                </a:solidFill>
              </a:defRPr>
            </a:pPr>
            <a:r>
              <a:rPr sz="1200" b="0">
                <a:solidFill>
                  <a:srgbClr val="5D6B7A"/>
                </a:solidFill>
              </a:rPr>
              <a:t>Identity / trust / governance projection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64B44-FCD7-4B4F-A03C-5ABE5AE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3200400" cy="156210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E9F3ED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0A9392-0E96-442F-B44F-F0694522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5B"/>
                </a:solidFill>
              </a:defRPr>
            </a:pPr>
            <a:r>
              <a:rPr sz="1350" b="1">
                <a:solidFill>
                  <a:srgbClr val="2F7D5B"/>
                </a:solidFill>
              </a:rPr>
              <a:t>resource-gateway-test-kit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43520-6864-4A44-AA14-9015EC1B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1940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只依赖 versioned wire schema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不依赖 Spring Boot 或服务端实现类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A8ECC-91FE-43AC-AB96-B53D5EFA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32004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1FD7E3-EBE0-4B8D-BC8E-F0710622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7B27"/>
                </a:solidFill>
              </a:defRPr>
            </a:pPr>
            <a:r>
              <a:rPr sz="1575" b="1">
                <a:solidFill>
                  <a:srgbClr val="B67B27"/>
                </a:solidFill>
              </a:rPr>
              <a:t>企业基础设施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EACBE-4EBD-4526-A0C0-728E5B83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244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OIDC / mTLS / KMS / Config Store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CI / ANEKE / 发布门禁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0870C6-B931-4B81-9B19-A72935E8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D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8BB960-5812-44B1-A8DF-887E5070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57500"/>
            <a:ext cx="14287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F7D5B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8E56B7-E4B6-4F88-987D-D5526BD8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57500"/>
            <a:ext cx="1428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D5B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BCB70-CF9B-4942-8808-13A587B9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62500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7B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1B6CB7-29EB-4F9F-845D-7349444B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05350"/>
            <a:ext cx="14287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67B27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01B4BC-6CD3-4E52-88CB-435DDB31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05350"/>
            <a:ext cx="1428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7B27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3B5BA8-CEBA-42AA-A351-6613CD8D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912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D6B7A"/>
                </a:solidFill>
              </a:defRPr>
            </a:pPr>
            <a:r>
              <a:rPr sz="1350" b="1">
                <a:solidFill>
                  <a:srgbClr val="5D6B7A"/>
                </a:solidFill>
              </a:rPr>
              <a:t>扩展原则：通过 Registry、Operator、Repository、IdentityResolver 和 Verifier 端口替换实现，不让供应商逻辑穿透到 Graph。</a:t>
            </a:r>
          </a:p>
        </p:txBody>
      </p:sp>
    </p:spTree>
    <p:extLst>
      <p:ext uri="{BB962C8B-B14F-4D97-AF65-F5344CB8AC3E}">
        <p14:creationId xmlns:p14="http://schemas.microsoft.com/office/powerpoint/2010/main" val="21144606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CED965-9303-4D7B-B2BD-6076797A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77D"/>
                </a:solidFill>
              </a:defRPr>
            </a:pPr>
            <a:r>
              <a:rPr sz="1050" b="1">
                <a:solidFill>
                  <a:srgbClr val="2B877D"/>
                </a:solidFill>
              </a:rPr>
              <a:t>19 · 工业化边界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4C811-7291-463F-80F8-E47B2F26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当前实现验证设计闭环，生产化需要替换示例级基础设施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C70F2-7021-4CD9-B55D-7135B8DF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7E4E3-ED37-4EE9-B33B-64FDBD97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834AC-8C04-46BE-B4CF-4C24B421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A3"/>
                </a:solidFill>
              </a:defRPr>
            </a:pPr>
            <a:r>
              <a:rPr sz="975" b="0">
                <a:solidFill>
                  <a:srgbClr val="8794A3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BA8DE-9723-4DEA-A7B6-C872574D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A3"/>
                </a:solidFill>
              </a:defRPr>
            </a:pPr>
            <a:r>
              <a:rPr sz="1050" b="1">
                <a:solidFill>
                  <a:srgbClr val="8794A3"/>
                </a:solidFill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0AA61-34D8-43D8-BE1F-2F91D3D8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F9E"/>
                </a:solidFill>
              </a:defRPr>
            </a:pPr>
            <a:r>
              <a:rPr sz="1950" b="1">
                <a:solidFill>
                  <a:srgbClr val="2F6F9E"/>
                </a:solidFill>
              </a:rPr>
              <a:t>当前示例实现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B548C-AD37-4C3E-989F-E9AF1804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76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7D5B"/>
                </a:solidFill>
              </a:defRPr>
            </a:pPr>
            <a:r>
              <a:rPr sz="1950" b="1">
                <a:solidFill>
                  <a:srgbClr val="2F7D5B"/>
                </a:solidFill>
              </a:rPr>
              <a:t>目标生产形态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5DAB7-A5A5-432B-8284-5BFB17D3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H2 + 内存热缓存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741EA-CED3-4972-8592-E832E7A9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71725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BC8D4"/>
          </a:solidFill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AC4A9-38B4-48DC-B7E5-32FB184B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050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版本化配置存储 + 乐观锁 / 变更分发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F0D00-B2C9-45C9-8EC6-A3A15F00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E8772-F9E2-4093-AF5E-47731516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单实例 Cache / Rate Limit / Circuit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EC06C-A212-42B2-B046-70666B12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76575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BC8D4"/>
          </a:solidFill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F0A68-AC02-4677-BCC2-5A069333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099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共享或分区状态 + 明确一致性策略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ABB2A-9612-4B64-97BD-861F1896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F7F15-E9D1-4E2C-839B-2ABAFB4F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示例 seed descriptor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E7554C-8172-41F6-A966-12135679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81425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BC8D4"/>
          </a:solidFill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4F326-4444-4595-B358-AFF9DB4A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147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受治理的注册、审批、回滚与环境晋级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1776F-158B-479B-8E6D-76F18AEC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F79C66-B0C4-43CC-A169-5753B631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本地签名与演示身份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8B70D-F4FB-4D1D-B280-AA081A66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86275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BC8D4"/>
          </a:solidFill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E054E0-D475-4F27-AE48-FC3E85B8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196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企业 OIDC / mTLS + KMS/HSM + 独立 trust pin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19AC5-4C93-437E-B897-C5AE2735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D979D3-47E7-4EC8-B730-119FFAAF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请求响应引擎模式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CB970F-E1B1-4949-AC2F-0A4F72A9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91125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BC8D4"/>
          </a:solidFill>
          <a:ln xmlns:a="http://schemas.openxmlformats.org/drawingml/2006/main" w="9525">
            <a:solidFill>
              <a:srgbClr val="BBC8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816B26-4C5B-4651-BD90-201EDC5F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244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按业务需要选择 durable / streaming 能力边界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DA21AB-2649-42FB-AED2-B4A47F3B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119FF3-0C72-4F3F-9D19-45F1DF7D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5312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D6B7A"/>
                </a:solidFill>
              </a:defRPr>
            </a:pPr>
            <a:r>
              <a:rPr sz="1500" b="1">
                <a:solidFill>
                  <a:srgbClr val="5D6B7A"/>
                </a:solidFill>
              </a:rPr>
              <a:t>演进顺序由风险与规模驱动；不要为了‘平台完整’提前建设所有分布式组件。</a:t>
            </a:r>
          </a:p>
        </p:txBody>
      </p:sp>
    </p:spTree>
    <p:extLst>
      <p:ext uri="{BB962C8B-B14F-4D97-AF65-F5344CB8AC3E}">
        <p14:creationId xmlns:p14="http://schemas.microsoft.com/office/powerpoint/2010/main" val="4863941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527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7B40C1-1D69-4999-88F9-8D116840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C6BE"/>
                </a:solidFill>
              </a:defRPr>
            </a:pPr>
            <a:r>
              <a:rPr sz="1050" b="1">
                <a:solidFill>
                  <a:srgbClr val="8EC6BE"/>
                </a:solidFill>
              </a:rPr>
              <a:t>20 · 工程行动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D50DC-FFD6-4063-9DCF-7E4ADC7A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团队落地应先建立一条可验证主路径，再扩展资产与治理深度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E1427-6AB3-4D3A-9E14-91548850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54E24-850D-4ADE-B22C-DF223167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536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D8753-2951-4889-A705-9423554A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CF"/>
                </a:solidFill>
              </a:defRPr>
            </a:pPr>
            <a:r>
              <a:rPr sz="975" b="0">
                <a:solidFill>
                  <a:srgbClr val="AFC0CF"/>
                </a:solidFill>
              </a:rPr>
              <a:t>Resource Gateway · 技术设计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34972-1E14-43A3-B773-110A8777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FC0CF"/>
                </a:solidFill>
              </a:defRPr>
            </a:pPr>
            <a:r>
              <a:rPr sz="1050" b="1">
                <a:solidFill>
                  <a:srgbClr val="AFC0CF"/>
                </a:solidFill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8433D-37A4-4C46-9EDC-A3A51510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457450" cy="22669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E3348"/>
          </a:solidFill>
          <a:ln xmlns:a="http://schemas.openxmlformats.org/drawingml/2006/main" w="9525">
            <a:solidFill>
              <a:srgbClr val="2F6F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9F6F5-6045-4C04-8E0B-9B77E870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9E"/>
                </a:solidFill>
              </a:defRPr>
            </a:pPr>
            <a:r>
              <a:rPr sz="2250" b="1">
                <a:solidFill>
                  <a:srgbClr val="2F6F9E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AA91A-53B4-401E-932A-9538EA26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选定一个 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2D363-9FAD-47C0-9CDE-90A790D4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4D1DC"/>
                </a:solidFill>
              </a:defRPr>
            </a:pPr>
            <a:r>
              <a:rPr sz="1275" b="0">
                <a:solidFill>
                  <a:srgbClr val="C4D1DC"/>
                </a:solidFill>
              </a:rPr>
              <a:t>高变更、多依赖、失败可回滚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2A2DB-9737-4AAE-8DD6-ADDED0F4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38350"/>
            <a:ext cx="2457450" cy="22669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E3348"/>
          </a:solidFill>
          <a:ln xmlns:a="http://schemas.openxmlformats.org/drawingml/2006/main" w="9525">
            <a:solidFill>
              <a:srgbClr val="2B87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069D8-9757-4B13-88A0-C9BB1F0E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877D"/>
                </a:solidFill>
              </a:defRPr>
            </a:pPr>
            <a:r>
              <a:rPr sz="2250" b="1">
                <a:solidFill>
                  <a:srgbClr val="2B877D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2D112-B7C7-413A-B161-008AD9AA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冻结正式契约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71356-54D6-4345-8E72-C4BA0383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5280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4D1DC"/>
                </a:solidFill>
              </a:defRPr>
            </a:pPr>
            <a:r>
              <a:rPr sz="1275" b="0">
                <a:solidFill>
                  <a:srgbClr val="C4D1DC"/>
                </a:solidFill>
              </a:rPr>
              <a:t>Descriptor + input/output 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32BB8-A877-4309-B754-B9500524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2457450" cy="22669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E3348"/>
          </a:solidFill>
          <a:ln xmlns:a="http://schemas.openxmlformats.org/drawingml/2006/main" w="9525">
            <a:solidFill>
              <a:srgbClr val="B67B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1F415-3241-40AF-9202-1D8C2FE4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67B27"/>
                </a:solidFill>
              </a:defRPr>
            </a:pPr>
            <a:r>
              <a:rPr sz="2250" b="1">
                <a:solidFill>
                  <a:srgbClr val="B67B27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D5F8A-837A-40C4-88E5-4FFF838F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建立严格 Fixture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CF49A-09DD-4D18-A302-7B7AAE07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5280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4D1DC"/>
                </a:solidFill>
              </a:defRPr>
            </a:pPr>
            <a:r>
              <a:rPr sz="1275" b="0">
                <a:solidFill>
                  <a:srgbClr val="C4D1DC"/>
                </a:solidFill>
              </a:rPr>
              <a:t>错误 · 超时 · retry</a:t>
            </a:r>
          </a:p>
          <a:p xmlns:a="http://schemas.openxmlformats.org/drawingml/2006/main">
            <a:pPr algn="l">
              <a:defRPr sz="1275" b="0">
                <a:solidFill>
                  <a:srgbClr val="C4D1DC"/>
                </a:solidFill>
              </a:defRPr>
            </a:pPr>
            <a:r>
              <a:rPr sz="1275" b="0">
                <a:solidFill>
                  <a:srgbClr val="C4D1DC"/>
                </a:solidFill>
              </a:rPr>
              <a:t>fallback · must-not-call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FBE48-F0A2-46EF-9F92-7BE95D30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38350"/>
            <a:ext cx="2457450" cy="22669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E3348"/>
          </a:solidFill>
          <a:ln xmlns:a="http://schemas.openxmlformats.org/drawingml/2006/main" w="9525">
            <a:solidFill>
              <a:srgbClr val="2F7D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9E0B9-9C9B-4DB7-BAF7-39B81821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479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D5B"/>
                </a:solidFill>
              </a:defRPr>
            </a:pPr>
            <a:r>
              <a:rPr sz="2250" b="1">
                <a:solidFill>
                  <a:srgbClr val="2F7D5B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74EEC4-D432-4824-8771-13E34F1B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384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接入独立门禁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F1BC0-18D0-4275-8B61-90B8784A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5280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4D1DC"/>
                </a:solidFill>
              </a:defRPr>
            </a:pPr>
            <a:r>
              <a:rPr sz="1275" b="0">
                <a:solidFill>
                  <a:srgbClr val="C4D1DC"/>
                </a:solidFill>
              </a:rPr>
              <a:t>exact revision + Coverage</a:t>
            </a:r>
          </a:p>
          <a:p xmlns:a="http://schemas.openxmlformats.org/drawingml/2006/main">
            <a:pPr algn="l">
              <a:defRPr sz="1275" b="0">
                <a:solidFill>
                  <a:srgbClr val="C4D1DC"/>
                </a:solidFill>
              </a:defRPr>
            </a:pPr>
            <a:r>
              <a:rPr sz="1275" b="0">
                <a:solidFill>
                  <a:srgbClr val="C4D1DC"/>
                </a:solidFill>
              </a:rPr>
              <a:t>Evidence + trust pin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638B5-CBD0-4C38-9111-B1924CA3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C6BE"/>
                </a:solidFill>
              </a:defRPr>
            </a:pPr>
            <a:r>
              <a:rPr sz="1350" b="1">
                <a:solidFill>
                  <a:srgbClr val="8EC6BE"/>
                </a:solidFill>
              </a:rPr>
              <a:t>最终判断标准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C44EFF-C0FA-4B88-985C-240DA6FA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业务变化是否更容易表达、更安全执行、更充分验证，并且能被另一团队独立复现。</a:t>
            </a:r>
          </a:p>
        </p:txBody>
      </p:sp>
    </p:spTree>
    <p:extLst>
      <p:ext uri="{BB962C8B-B14F-4D97-AF65-F5344CB8AC3E}">
        <p14:creationId xmlns:p14="http://schemas.microsoft.com/office/powerpoint/2010/main" val="1939002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2026-08-16T16:02:48.7760000Z</dcterms:created>
  <dcterms:modified xsi:type="dcterms:W3CDTF">2026-08-16T16:02:48.7760000Z</dcterms:modified>
</coreProperties>
</file>